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92000" cy="640080"/>
          </a:xfrm>
          <a:prstGeom prst="rect">
            <a:avLst/>
          </a:prstGeom>
          <a:solidFill>
            <a:srgbClr val="0D1925"/>
          </a:solidFill>
          <a:ln/>
        </p:spPr>
      </p:sp>
      <p:sp>
        <p:nvSpPr>
          <p:cNvPr id="3" name="Text 1"/>
          <p:cNvSpPr/>
          <p:nvPr/>
        </p:nvSpPr>
        <p:spPr>
          <a:xfrm>
            <a:off x="365760" y="182880"/>
            <a:ext cx="4572000" cy="320040"/>
          </a:xfrm>
          <a:prstGeom prst="rect">
            <a:avLst/>
          </a:prstGeom>
          <a:noFill/>
          <a:ln/>
        </p:spPr>
        <p:txBody>
          <a:bodyPr wrap="square" rtlCol="0" anchor="ctr"/>
          <a:lstStyle/>
          <a:p>
            <a:pPr indent="0" marL="0">
              <a:buNone/>
            </a:pPr>
            <a:r>
              <a:rPr lang="en-US" sz="1300" b="1" dirty="0">
                <a:solidFill>
                  <a:srgbClr val="C9A84C"/>
                </a:solidFill>
                <a:latin typeface="Calibri" pitchFamily="34" charset="0"/>
                <a:ea typeface="Calibri" pitchFamily="34" charset="-122"/>
                <a:cs typeface="Calibri" pitchFamily="34" charset="-120"/>
              </a:rPr>
              <a:t>CANA VENTURES</a:t>
            </a:r>
            <a:endParaRPr lang="en-US" sz="1300" dirty="0"/>
          </a:p>
        </p:txBody>
      </p:sp>
      <p:sp>
        <p:nvSpPr>
          <p:cNvPr id="4" name="Text 2"/>
          <p:cNvSpPr/>
          <p:nvPr/>
        </p:nvSpPr>
        <p:spPr>
          <a:xfrm>
            <a:off x="7772400" y="182880"/>
            <a:ext cx="4114800" cy="320040"/>
          </a:xfrm>
          <a:prstGeom prst="rect">
            <a:avLst/>
          </a:prstGeom>
          <a:noFill/>
          <a:ln/>
        </p:spPr>
        <p:txBody>
          <a:bodyPr wrap="square" rtlCol="0" anchor="ctr"/>
          <a:lstStyle/>
          <a:p>
            <a:pPr algn="r" indent="0" marL="0">
              <a:buNone/>
            </a:pPr>
            <a:r>
              <a:rPr lang="en-US" sz="1000" dirty="0">
                <a:solidFill>
                  <a:srgbClr val="8899AA"/>
                </a:solidFill>
                <a:latin typeface="Calibri Light" pitchFamily="34" charset="0"/>
                <a:ea typeface="Calibri Light" pitchFamily="34" charset="-122"/>
                <a:cs typeface="Calibri Light" pitchFamily="34" charset="-120"/>
              </a:rPr>
              <a:t>www.canaventures.com</a:t>
            </a:r>
            <a:endParaRPr lang="en-US" sz="1000" dirty="0"/>
          </a:p>
        </p:txBody>
      </p:sp>
      <p:sp>
        <p:nvSpPr>
          <p:cNvPr id="5" name="Shape 3"/>
          <p:cNvSpPr/>
          <p:nvPr/>
        </p:nvSpPr>
        <p:spPr>
          <a:xfrm>
            <a:off x="365760" y="2743200"/>
            <a:ext cx="11430000" cy="22860"/>
          </a:xfrm>
          <a:prstGeom prst="rect">
            <a:avLst/>
          </a:prstGeom>
          <a:solidFill>
            <a:srgbClr val="C9A84C"/>
          </a:solidFill>
          <a:ln/>
        </p:spPr>
      </p:sp>
      <p:sp>
        <p:nvSpPr>
          <p:cNvPr id="6" name="Text 4"/>
          <p:cNvSpPr/>
          <p:nvPr/>
        </p:nvSpPr>
        <p:spPr>
          <a:xfrm>
            <a:off x="365760" y="2834640"/>
            <a:ext cx="1143000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Cana Capital Senior Credit Fund I, L.P.</a:t>
            </a:r>
            <a:endParaRPr lang="en-US" sz="3600" dirty="0"/>
          </a:p>
        </p:txBody>
      </p:sp>
      <p:sp>
        <p:nvSpPr>
          <p:cNvPr id="7" name="Text 5"/>
          <p:cNvSpPr/>
          <p:nvPr/>
        </p:nvSpPr>
        <p:spPr>
          <a:xfrm>
            <a:off x="365760" y="3611880"/>
            <a:ext cx="11430000" cy="365760"/>
          </a:xfrm>
          <a:prstGeom prst="rect">
            <a:avLst/>
          </a:prstGeom>
          <a:noFill/>
          <a:ln/>
        </p:spPr>
        <p:txBody>
          <a:bodyPr wrap="square" rtlCol="0" anchor="ctr"/>
          <a:lstStyle/>
          <a:p>
            <a:pPr indent="0" marL="0">
              <a:buNone/>
            </a:pPr>
            <a:r>
              <a:rPr lang="en-US" sz="1500" i="1" dirty="0">
                <a:solidFill>
                  <a:srgbClr val="C9A84C"/>
                </a:solidFill>
                <a:latin typeface="Calibri Light" pitchFamily="34" charset="0"/>
                <a:ea typeface="Calibri Light" pitchFamily="34" charset="-122"/>
                <a:cs typeface="Calibri Light" pitchFamily="34" charset="-120"/>
              </a:rPr>
              <a:t>Senior Secured Commercial Real Estate Debt</a:t>
            </a:r>
            <a:endParaRPr lang="en-US" sz="1500" dirty="0"/>
          </a:p>
        </p:txBody>
      </p:sp>
      <p:sp>
        <p:nvSpPr>
          <p:cNvPr id="8" name="Text 6"/>
          <p:cNvSpPr/>
          <p:nvPr/>
        </p:nvSpPr>
        <p:spPr>
          <a:xfrm>
            <a:off x="365760" y="4251960"/>
            <a:ext cx="11430000" cy="320040"/>
          </a:xfrm>
          <a:prstGeom prst="rect">
            <a:avLst/>
          </a:prstGeom>
          <a:noFill/>
          <a:ln/>
        </p:spPr>
        <p:txBody>
          <a:bodyPr wrap="square" rtlCol="0" anchor="ctr"/>
          <a:lstStyle/>
          <a:p>
            <a:pPr indent="0" marL="0">
              <a:buNone/>
            </a:pPr>
            <a:r>
              <a:rPr lang="en-US" sz="1400" dirty="0">
                <a:solidFill>
                  <a:srgbClr val="AABDD0"/>
                </a:solidFill>
                <a:latin typeface="Calibri Light" pitchFamily="34" charset="0"/>
                <a:ea typeface="Calibri Light" pitchFamily="34" charset="-122"/>
                <a:cs typeface="Calibri Light" pitchFamily="34" charset="-120"/>
              </a:rPr>
              <a:t>Monthly Investor Report</a:t>
            </a:r>
            <a:endParaRPr lang="en-US" sz="1400" dirty="0"/>
          </a:p>
        </p:txBody>
      </p:sp>
      <p:sp>
        <p:nvSpPr>
          <p:cNvPr id="9" name="Text 7"/>
          <p:cNvSpPr/>
          <p:nvPr/>
        </p:nvSpPr>
        <p:spPr>
          <a:xfrm>
            <a:off x="365760" y="4572000"/>
            <a:ext cx="11430000" cy="5486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April 2026</a:t>
            </a:r>
            <a:endParaRPr lang="en-US" sz="3200" dirty="0"/>
          </a:p>
        </p:txBody>
      </p:sp>
      <p:sp>
        <p:nvSpPr>
          <p:cNvPr id="10" name="Shape 8"/>
          <p:cNvSpPr/>
          <p:nvPr/>
        </p:nvSpPr>
        <p:spPr>
          <a:xfrm>
            <a:off x="0" y="6309360"/>
            <a:ext cx="12192000" cy="22860"/>
          </a:xfrm>
          <a:prstGeom prst="rect">
            <a:avLst/>
          </a:prstGeom>
          <a:solidFill>
            <a:srgbClr val="C9A84C"/>
          </a:solidFill>
          <a:ln/>
        </p:spPr>
      </p:sp>
      <p:sp>
        <p:nvSpPr>
          <p:cNvPr id="11" name="Text 9"/>
          <p:cNvSpPr/>
          <p:nvPr/>
        </p:nvSpPr>
        <p:spPr>
          <a:xfrm>
            <a:off x="365760" y="6355080"/>
            <a:ext cx="6400800" cy="274320"/>
          </a:xfrm>
          <a:prstGeom prst="rect">
            <a:avLst/>
          </a:prstGeom>
          <a:noFill/>
          <a:ln/>
        </p:spPr>
        <p:txBody>
          <a:bodyPr wrap="square" rtlCol="0" anchor="ctr"/>
          <a:lstStyle/>
          <a:p>
            <a:pPr indent="0" marL="0">
              <a:buNone/>
            </a:pPr>
            <a:r>
              <a:rPr lang="en-US" sz="800" dirty="0">
                <a:solidFill>
                  <a:srgbClr val="8899AA"/>
                </a:solidFill>
                <a:latin typeface="Calibri Light" pitchFamily="34" charset="0"/>
                <a:ea typeface="Calibri Light" pitchFamily="34" charset="-122"/>
                <a:cs typeface="Calibri Light" pitchFamily="34" charset="-120"/>
              </a:rPr>
              <a:t>CONFIDENTIAL — FOR LIMITED PARTNERS ONLY</a:t>
            </a:r>
            <a:endParaRPr lang="en-US" sz="800" dirty="0"/>
          </a:p>
        </p:txBody>
      </p:sp>
      <p:sp>
        <p:nvSpPr>
          <p:cNvPr id="12" name="Text 10"/>
          <p:cNvSpPr/>
          <p:nvPr/>
        </p:nvSpPr>
        <p:spPr>
          <a:xfrm>
            <a:off x="5943600" y="6355080"/>
            <a:ext cx="5943600" cy="274320"/>
          </a:xfrm>
          <a:prstGeom prst="rect">
            <a:avLst/>
          </a:prstGeom>
          <a:noFill/>
          <a:ln/>
        </p:spPr>
        <p:txBody>
          <a:bodyPr wrap="square" rtlCol="0" anchor="ctr"/>
          <a:lstStyle/>
          <a:p>
            <a:pPr algn="r" indent="0" marL="0">
              <a:buNone/>
            </a:pPr>
            <a:r>
              <a:rPr lang="en-US" sz="800" dirty="0">
                <a:solidFill>
                  <a:srgbClr val="8899AA"/>
                </a:solidFill>
                <a:latin typeface="Calibri Light" pitchFamily="34" charset="0"/>
                <a:ea typeface="Calibri Light" pitchFamily="34" charset="-122"/>
                <a:cs typeface="Calibri Light" pitchFamily="34" charset="-120"/>
              </a:rPr>
              <a:t>Prepared by Cana Ventures  |  April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73152" cy="6858000"/>
          </a:xfrm>
          <a:prstGeom prst="rect">
            <a:avLst/>
          </a:prstGeom>
          <a:solidFill>
            <a:srgbClr val="1B2A4A"/>
          </a:solidFill>
          <a:ln/>
        </p:spPr>
      </p:sp>
      <p:sp>
        <p:nvSpPr>
          <p:cNvPr id="3" name="Text 1"/>
          <p:cNvSpPr/>
          <p:nvPr/>
        </p:nvSpPr>
        <p:spPr>
          <a:xfrm>
            <a:off x="274320" y="182880"/>
            <a:ext cx="10972800" cy="54864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Executive Summary</a:t>
            </a:r>
            <a:endParaRPr lang="en-US" sz="2600" dirty="0"/>
          </a:p>
        </p:txBody>
      </p:sp>
      <p:sp>
        <p:nvSpPr>
          <p:cNvPr id="4" name="Shape 2"/>
          <p:cNvSpPr/>
          <p:nvPr/>
        </p:nvSpPr>
        <p:spPr>
          <a:xfrm>
            <a:off x="274320" y="749808"/>
            <a:ext cx="11612880" cy="20117"/>
          </a:xfrm>
          <a:prstGeom prst="rect">
            <a:avLst/>
          </a:prstGeom>
          <a:solidFill>
            <a:srgbClr val="C9A84C"/>
          </a:solidFill>
          <a:ln/>
        </p:spPr>
      </p:sp>
      <p:sp>
        <p:nvSpPr>
          <p:cNvPr id="5" name="Shape 3"/>
          <p:cNvSpPr/>
          <p:nvPr/>
        </p:nvSpPr>
        <p:spPr>
          <a:xfrm>
            <a:off x="274320" y="868680"/>
            <a:ext cx="3566160" cy="1417320"/>
          </a:xfrm>
          <a:prstGeom prst="roundRect">
            <a:avLst>
              <a:gd name="adj" fmla="val 3226"/>
            </a:avLst>
          </a:prstGeom>
          <a:solidFill>
            <a:srgbClr val="FFFFFF"/>
          </a:solidFill>
          <a:ln w="9525">
            <a:solidFill>
              <a:srgbClr val="C9A84C"/>
            </a:solidFill>
            <a:prstDash val="solid"/>
          </a:ln>
        </p:spPr>
      </p:sp>
      <p:sp>
        <p:nvSpPr>
          <p:cNvPr id="6" name="Text 4"/>
          <p:cNvSpPr/>
          <p:nvPr/>
        </p:nvSpPr>
        <p:spPr>
          <a:xfrm>
            <a:off x="365760" y="960120"/>
            <a:ext cx="3383280" cy="777240"/>
          </a:xfrm>
          <a:prstGeom prst="rect">
            <a:avLst/>
          </a:prstGeom>
          <a:noFill/>
          <a:ln/>
        </p:spPr>
        <p:txBody>
          <a:bodyPr wrap="square" rtlCol="0" anchor="ctr"/>
          <a:lstStyle/>
          <a:p>
            <a:pPr algn="ctr" indent="0" marL="0">
              <a:buNone/>
            </a:pPr>
            <a:r>
              <a:rPr lang="en-US" sz="3400" b="1" dirty="0">
                <a:solidFill>
                  <a:srgbClr val="C9A84C"/>
                </a:solidFill>
                <a:latin typeface="Calibri" pitchFamily="34" charset="0"/>
                <a:ea typeface="Calibri" pitchFamily="34" charset="-122"/>
                <a:cs typeface="Calibri" pitchFamily="34" charset="-120"/>
              </a:rPr>
              <a:t>$118.4M</a:t>
            </a:r>
            <a:endParaRPr lang="en-US" sz="3400" dirty="0"/>
          </a:p>
        </p:txBody>
      </p:sp>
      <p:sp>
        <p:nvSpPr>
          <p:cNvPr id="7" name="Text 5"/>
          <p:cNvSpPr/>
          <p:nvPr/>
        </p:nvSpPr>
        <p:spPr>
          <a:xfrm>
            <a:off x="365760" y="1737360"/>
            <a:ext cx="3383280" cy="274320"/>
          </a:xfrm>
          <a:prstGeom prst="rect">
            <a:avLst/>
          </a:prstGeom>
          <a:noFill/>
          <a:ln/>
        </p:spPr>
        <p:txBody>
          <a:bodyPr wrap="square" rtlCol="0" anchor="ctr"/>
          <a:lstStyle/>
          <a:p>
            <a:pPr algn="ctr" indent="0" marL="0">
              <a:buNone/>
            </a:pPr>
            <a:r>
              <a:rPr lang="en-US" sz="900" dirty="0">
                <a:solidFill>
                  <a:srgbClr val="2C3E50"/>
                </a:solidFill>
                <a:latin typeface="Calibri Light" pitchFamily="34" charset="0"/>
                <a:ea typeface="Calibri Light" pitchFamily="34" charset="-122"/>
                <a:cs typeface="Calibri Light" pitchFamily="34" charset="-120"/>
              </a:rPr>
              <a:t>Total Fund NAV</a:t>
            </a:r>
            <a:endParaRPr lang="en-US" sz="900" dirty="0"/>
          </a:p>
        </p:txBody>
      </p:sp>
      <p:sp>
        <p:nvSpPr>
          <p:cNvPr id="8" name="Text 6"/>
          <p:cNvSpPr/>
          <p:nvPr/>
        </p:nvSpPr>
        <p:spPr>
          <a:xfrm>
            <a:off x="365760" y="1993392"/>
            <a:ext cx="3383280" cy="228600"/>
          </a:xfrm>
          <a:prstGeom prst="rect">
            <a:avLst/>
          </a:prstGeom>
          <a:noFill/>
          <a:ln/>
        </p:spPr>
        <p:txBody>
          <a:bodyPr wrap="square" rtlCol="0" anchor="ctr"/>
          <a:lstStyle/>
          <a:p>
            <a:pPr algn="ctr" indent="0" marL="0">
              <a:buNone/>
            </a:pPr>
            <a:r>
              <a:rPr lang="en-US" sz="900" b="1" dirty="0">
                <a:solidFill>
                  <a:srgbClr val="1A6B3A"/>
                </a:solidFill>
                <a:latin typeface="Calibri" pitchFamily="34" charset="0"/>
                <a:ea typeface="Calibri" pitchFamily="34" charset="-122"/>
                <a:cs typeface="Calibri" pitchFamily="34" charset="-120"/>
              </a:rPr>
              <a:t>▲ 1.6%</a:t>
            </a:r>
            <a:endParaRPr lang="en-US" sz="900" dirty="0"/>
          </a:p>
        </p:txBody>
      </p:sp>
      <p:sp>
        <p:nvSpPr>
          <p:cNvPr id="9" name="Shape 7"/>
          <p:cNvSpPr/>
          <p:nvPr/>
        </p:nvSpPr>
        <p:spPr>
          <a:xfrm>
            <a:off x="4133088" y="868680"/>
            <a:ext cx="3566160" cy="1417320"/>
          </a:xfrm>
          <a:prstGeom prst="roundRect">
            <a:avLst>
              <a:gd name="adj" fmla="val 3226"/>
            </a:avLst>
          </a:prstGeom>
          <a:solidFill>
            <a:srgbClr val="FFFFFF"/>
          </a:solidFill>
          <a:ln w="9525">
            <a:solidFill>
              <a:srgbClr val="C9A84C"/>
            </a:solidFill>
            <a:prstDash val="solid"/>
          </a:ln>
        </p:spPr>
      </p:sp>
      <p:sp>
        <p:nvSpPr>
          <p:cNvPr id="10" name="Text 8"/>
          <p:cNvSpPr/>
          <p:nvPr/>
        </p:nvSpPr>
        <p:spPr>
          <a:xfrm>
            <a:off x="4224528" y="960120"/>
            <a:ext cx="3383280" cy="777240"/>
          </a:xfrm>
          <a:prstGeom prst="rect">
            <a:avLst/>
          </a:prstGeom>
          <a:noFill/>
          <a:ln/>
        </p:spPr>
        <p:txBody>
          <a:bodyPr wrap="square" rtlCol="0" anchor="ctr"/>
          <a:lstStyle/>
          <a:p>
            <a:pPr algn="ctr" indent="0" marL="0">
              <a:buNone/>
            </a:pPr>
            <a:r>
              <a:rPr lang="en-US" sz="3400" b="1" dirty="0">
                <a:solidFill>
                  <a:srgbClr val="C9A84C"/>
                </a:solidFill>
                <a:latin typeface="Calibri" pitchFamily="34" charset="0"/>
                <a:ea typeface="Calibri" pitchFamily="34" charset="-122"/>
                <a:cs typeface="Calibri" pitchFamily="34" charset="-120"/>
              </a:rPr>
              <a:t>8.2%</a:t>
            </a:r>
            <a:endParaRPr lang="en-US" sz="3400" dirty="0"/>
          </a:p>
        </p:txBody>
      </p:sp>
      <p:sp>
        <p:nvSpPr>
          <p:cNvPr id="11" name="Text 9"/>
          <p:cNvSpPr/>
          <p:nvPr/>
        </p:nvSpPr>
        <p:spPr>
          <a:xfrm>
            <a:off x="4224528" y="1737360"/>
            <a:ext cx="3383280" cy="274320"/>
          </a:xfrm>
          <a:prstGeom prst="rect">
            <a:avLst/>
          </a:prstGeom>
          <a:noFill/>
          <a:ln/>
        </p:spPr>
        <p:txBody>
          <a:bodyPr wrap="square" rtlCol="0" anchor="ctr"/>
          <a:lstStyle/>
          <a:p>
            <a:pPr algn="ctr" indent="0" marL="0">
              <a:buNone/>
            </a:pPr>
            <a:r>
              <a:rPr lang="en-US" sz="900" dirty="0">
                <a:solidFill>
                  <a:srgbClr val="2C3E50"/>
                </a:solidFill>
                <a:latin typeface="Calibri Light" pitchFamily="34" charset="0"/>
                <a:ea typeface="Calibri Light" pitchFamily="34" charset="-122"/>
                <a:cs typeface="Calibri Light" pitchFamily="34" charset="-120"/>
              </a:rPr>
              <a:t>Distribution Yield</a:t>
            </a:r>
            <a:endParaRPr lang="en-US" sz="900" dirty="0"/>
          </a:p>
        </p:txBody>
      </p:sp>
      <p:sp>
        <p:nvSpPr>
          <p:cNvPr id="12" name="Text 10"/>
          <p:cNvSpPr/>
          <p:nvPr/>
        </p:nvSpPr>
        <p:spPr>
          <a:xfrm>
            <a:off x="4224528" y="1993392"/>
            <a:ext cx="3383280" cy="228600"/>
          </a:xfrm>
          <a:prstGeom prst="rect">
            <a:avLst/>
          </a:prstGeom>
          <a:noFill/>
          <a:ln/>
        </p:spPr>
        <p:txBody>
          <a:bodyPr wrap="square" rtlCol="0" anchor="ctr"/>
          <a:lstStyle/>
          <a:p>
            <a:pPr algn="ctr" indent="0" marL="0">
              <a:buNone/>
            </a:pPr>
            <a:r>
              <a:rPr lang="en-US" sz="900" b="1" dirty="0">
                <a:solidFill>
                  <a:srgbClr val="1A6B3A"/>
                </a:solidFill>
                <a:latin typeface="Calibri" pitchFamily="34" charset="0"/>
                <a:ea typeface="Calibri" pitchFamily="34" charset="-122"/>
                <a:cs typeface="Calibri" pitchFamily="34" charset="-120"/>
              </a:rPr>
              <a:t>▲ 20 bps</a:t>
            </a:r>
            <a:endParaRPr lang="en-US" sz="900" dirty="0"/>
          </a:p>
        </p:txBody>
      </p:sp>
      <p:sp>
        <p:nvSpPr>
          <p:cNvPr id="13" name="Shape 11"/>
          <p:cNvSpPr/>
          <p:nvPr/>
        </p:nvSpPr>
        <p:spPr>
          <a:xfrm>
            <a:off x="7982712" y="868680"/>
            <a:ext cx="3566160" cy="1417320"/>
          </a:xfrm>
          <a:prstGeom prst="roundRect">
            <a:avLst>
              <a:gd name="adj" fmla="val 3226"/>
            </a:avLst>
          </a:prstGeom>
          <a:solidFill>
            <a:srgbClr val="FFFFFF"/>
          </a:solidFill>
          <a:ln w="9525">
            <a:solidFill>
              <a:srgbClr val="C9A84C"/>
            </a:solidFill>
            <a:prstDash val="solid"/>
          </a:ln>
        </p:spPr>
      </p:sp>
      <p:sp>
        <p:nvSpPr>
          <p:cNvPr id="14" name="Text 12"/>
          <p:cNvSpPr/>
          <p:nvPr/>
        </p:nvSpPr>
        <p:spPr>
          <a:xfrm>
            <a:off x="8074152" y="960120"/>
            <a:ext cx="3383280" cy="777240"/>
          </a:xfrm>
          <a:prstGeom prst="rect">
            <a:avLst/>
          </a:prstGeom>
          <a:noFill/>
          <a:ln/>
        </p:spPr>
        <p:txBody>
          <a:bodyPr wrap="square" rtlCol="0" anchor="ctr"/>
          <a:lstStyle/>
          <a:p>
            <a:pPr algn="ctr" indent="0" marL="0">
              <a:buNone/>
            </a:pPr>
            <a:r>
              <a:rPr lang="en-US" sz="3400" b="1" dirty="0">
                <a:solidFill>
                  <a:srgbClr val="C9A84C"/>
                </a:solidFill>
                <a:latin typeface="Calibri" pitchFamily="34" charset="0"/>
                <a:ea typeface="Calibri" pitchFamily="34" charset="-122"/>
                <a:cs typeface="Calibri" pitchFamily="34" charset="-120"/>
              </a:rPr>
              <a:t>14</a:t>
            </a:r>
            <a:endParaRPr lang="en-US" sz="3400" dirty="0"/>
          </a:p>
        </p:txBody>
      </p:sp>
      <p:sp>
        <p:nvSpPr>
          <p:cNvPr id="15" name="Text 13"/>
          <p:cNvSpPr/>
          <p:nvPr/>
        </p:nvSpPr>
        <p:spPr>
          <a:xfrm>
            <a:off x="8074152" y="1737360"/>
            <a:ext cx="3383280" cy="274320"/>
          </a:xfrm>
          <a:prstGeom prst="rect">
            <a:avLst/>
          </a:prstGeom>
          <a:noFill/>
          <a:ln/>
        </p:spPr>
        <p:txBody>
          <a:bodyPr wrap="square" rtlCol="0" anchor="ctr"/>
          <a:lstStyle/>
          <a:p>
            <a:pPr algn="ctr" indent="0" marL="0">
              <a:buNone/>
            </a:pPr>
            <a:r>
              <a:rPr lang="en-US" sz="900" dirty="0">
                <a:solidFill>
                  <a:srgbClr val="2C3E50"/>
                </a:solidFill>
                <a:latin typeface="Calibri Light" pitchFamily="34" charset="0"/>
                <a:ea typeface="Calibri Light" pitchFamily="34" charset="-122"/>
                <a:cs typeface="Calibri Light" pitchFamily="34" charset="-120"/>
              </a:rPr>
              <a:t>Active Loans</a:t>
            </a:r>
            <a:endParaRPr lang="en-US" sz="900" dirty="0"/>
          </a:p>
        </p:txBody>
      </p:sp>
      <p:sp>
        <p:nvSpPr>
          <p:cNvPr id="16" name="Text 14"/>
          <p:cNvSpPr/>
          <p:nvPr/>
        </p:nvSpPr>
        <p:spPr>
          <a:xfrm>
            <a:off x="8074152" y="1993392"/>
            <a:ext cx="3383280" cy="228600"/>
          </a:xfrm>
          <a:prstGeom prst="rect">
            <a:avLst/>
          </a:prstGeom>
          <a:noFill/>
          <a:ln/>
        </p:spPr>
        <p:txBody>
          <a:bodyPr wrap="square" rtlCol="0" anchor="ctr"/>
          <a:lstStyle/>
          <a:p>
            <a:pPr algn="ctr" indent="0" marL="0">
              <a:buNone/>
            </a:pPr>
            <a:r>
              <a:rPr lang="en-US" sz="900" b="1" dirty="0">
                <a:solidFill>
                  <a:srgbClr val="1A6B3A"/>
                </a:solidFill>
                <a:latin typeface="Calibri" pitchFamily="34" charset="0"/>
                <a:ea typeface="Calibri" pitchFamily="34" charset="-122"/>
                <a:cs typeface="Calibri" pitchFamily="34" charset="-120"/>
              </a:rPr>
              <a:t>▲ +1 loan vs. prior month</a:t>
            </a:r>
            <a:endParaRPr lang="en-US" sz="900" dirty="0"/>
          </a:p>
        </p:txBody>
      </p:sp>
      <p:sp>
        <p:nvSpPr>
          <p:cNvPr id="17" name="Text 15"/>
          <p:cNvSpPr/>
          <p:nvPr/>
        </p:nvSpPr>
        <p:spPr>
          <a:xfrm>
            <a:off x="274320" y="2468880"/>
            <a:ext cx="8686800" cy="3474720"/>
          </a:xfrm>
          <a:prstGeom prst="rect">
            <a:avLst/>
          </a:prstGeom>
          <a:noFill/>
          <a:ln/>
        </p:spPr>
        <p:txBody>
          <a:bodyPr wrap="square" rtlCol="0" anchor="t"/>
          <a:lstStyle/>
          <a:p>
            <a:pPr indent="0" marL="0">
              <a:buNone/>
            </a:pPr>
            <a:r>
              <a:rPr lang="en-US" sz="1100" dirty="0">
                <a:solidFill>
                  <a:srgbClr val="2C3E50"/>
                </a:solidFill>
                <a:latin typeface="Calibri Light" pitchFamily="34" charset="0"/>
                <a:ea typeface="Calibri Light" pitchFamily="34" charset="-122"/>
                <a:cs typeface="Calibri Light" pitchFamily="34" charset="-120"/>
              </a:rPr>
              <a:t>The Fund delivered another month of stable performance in April 2026, with Net Asset Value growing to $118.4M — a 1.6% increase from March — driven by continued interest income and two new loan originations. The portfolio remains 100% performing with a weighted average DSCR of 1.35x across all 14 active loans.</a:t>
            </a:r>
            <a:endParaRPr lang="en-US" sz="1100" dirty="0"/>
          </a:p>
          <a:p>
            <a:pPr indent="0" marL="0">
              <a:buNone/>
            </a:pPr>
            <a:endParaRPr lang="en-US" sz="1100" dirty="0"/>
          </a:p>
          <a:p>
            <a:pPr indent="0" marL="0">
              <a:buNone/>
            </a:pPr>
            <a:r>
              <a:rPr lang="en-US" sz="1100" dirty="0">
                <a:solidFill>
                  <a:srgbClr val="2C3E50"/>
                </a:solidFill>
                <a:latin typeface="Calibri Light" pitchFamily="34" charset="0"/>
                <a:ea typeface="Calibri Light" pitchFamily="34" charset="-122"/>
                <a:cs typeface="Calibri Light" pitchFamily="34" charset="-120"/>
              </a:rPr>
              <a:t>Monthly distributions of $0.095 per unit were paid on schedule, representing an annualized yield of 8.2% and maintaining the fund's preferred return of 7.5% in current status. The fund's defensive positioning in senior secured loans — with a weighted average LTV of 62.5% — continues to provide robust downside protection in the current rate environment.</a:t>
            </a:r>
            <a:endParaRPr lang="en-US" sz="1100" dirty="0"/>
          </a:p>
        </p:txBody>
      </p:sp>
      <p:sp>
        <p:nvSpPr>
          <p:cNvPr id="18" name="Shape 16"/>
          <p:cNvSpPr/>
          <p:nvPr/>
        </p:nvSpPr>
        <p:spPr>
          <a:xfrm>
            <a:off x="9235440" y="2468880"/>
            <a:ext cx="2743200" cy="2743200"/>
          </a:xfrm>
          <a:prstGeom prst="roundRect">
            <a:avLst>
              <a:gd name="adj" fmla="val 1667"/>
            </a:avLst>
          </a:prstGeom>
          <a:solidFill>
            <a:srgbClr val="1B2A4A"/>
          </a:solidFill>
          <a:ln/>
        </p:spPr>
      </p:sp>
      <p:sp>
        <p:nvSpPr>
          <p:cNvPr id="19" name="Text 17"/>
          <p:cNvSpPr/>
          <p:nvPr/>
        </p:nvSpPr>
        <p:spPr>
          <a:xfrm>
            <a:off x="9235440" y="2578608"/>
            <a:ext cx="27432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Fund Health</a:t>
            </a:r>
            <a:endParaRPr lang="en-US" sz="1100" dirty="0"/>
          </a:p>
        </p:txBody>
      </p:sp>
      <p:sp>
        <p:nvSpPr>
          <p:cNvPr id="20" name="Shape 18"/>
          <p:cNvSpPr/>
          <p:nvPr/>
        </p:nvSpPr>
        <p:spPr>
          <a:xfrm>
            <a:off x="9235440" y="2898648"/>
            <a:ext cx="2743200" cy="13716"/>
          </a:xfrm>
          <a:prstGeom prst="rect">
            <a:avLst/>
          </a:prstGeom>
          <a:solidFill>
            <a:srgbClr val="C9A84C"/>
          </a:solidFill>
          <a:ln/>
        </p:spPr>
      </p:sp>
      <p:sp>
        <p:nvSpPr>
          <p:cNvPr id="21" name="Text 19"/>
          <p:cNvSpPr/>
          <p:nvPr/>
        </p:nvSpPr>
        <p:spPr>
          <a:xfrm>
            <a:off x="9372600" y="2999232"/>
            <a:ext cx="2468880" cy="365760"/>
          </a:xfrm>
          <a:prstGeom prst="rect">
            <a:avLst/>
          </a:prstGeom>
          <a:noFill/>
          <a:ln/>
        </p:spPr>
        <p:txBody>
          <a:bodyPr wrap="square" rtlCol="0" anchor="ctr"/>
          <a:lstStyle/>
          <a:p>
            <a:pPr indent="0" marL="0">
              <a:buNone/>
            </a:pPr>
            <a:r>
              <a:rPr lang="en-US" sz="950" dirty="0">
                <a:solidFill>
                  <a:srgbClr val="1A6B3A"/>
                </a:solidFill>
                <a:latin typeface="Calibri Light" pitchFamily="34" charset="0"/>
                <a:ea typeface="Calibri Light" pitchFamily="34" charset="-122"/>
                <a:cs typeface="Calibri Light" pitchFamily="34" charset="-120"/>
              </a:rPr>
              <a:t>✓ Preferred Return: CURRENT</a:t>
            </a:r>
            <a:endParaRPr lang="en-US" sz="950" dirty="0"/>
          </a:p>
        </p:txBody>
      </p:sp>
      <p:sp>
        <p:nvSpPr>
          <p:cNvPr id="22" name="Text 20"/>
          <p:cNvSpPr/>
          <p:nvPr/>
        </p:nvSpPr>
        <p:spPr>
          <a:xfrm>
            <a:off x="9372600" y="3438144"/>
            <a:ext cx="2468880" cy="365760"/>
          </a:xfrm>
          <a:prstGeom prst="rect">
            <a:avLst/>
          </a:prstGeom>
          <a:noFill/>
          <a:ln/>
        </p:spPr>
        <p:txBody>
          <a:bodyPr wrap="square" rtlCol="0" anchor="ctr"/>
          <a:lstStyle/>
          <a:p>
            <a:pPr indent="0" marL="0">
              <a:buNone/>
            </a:pPr>
            <a:r>
              <a:rPr lang="en-US" sz="950" dirty="0">
                <a:solidFill>
                  <a:srgbClr val="1A6B3A"/>
                </a:solidFill>
                <a:latin typeface="Calibri Light" pitchFamily="34" charset="0"/>
                <a:ea typeface="Calibri Light" pitchFamily="34" charset="-122"/>
                <a:cs typeface="Calibri Light" pitchFamily="34" charset="-120"/>
              </a:rPr>
              <a:t>✓ Portfolio: 100% Performing</a:t>
            </a:r>
            <a:endParaRPr lang="en-US" sz="950" dirty="0"/>
          </a:p>
        </p:txBody>
      </p:sp>
      <p:sp>
        <p:nvSpPr>
          <p:cNvPr id="23" name="Text 21"/>
          <p:cNvSpPr/>
          <p:nvPr/>
        </p:nvSpPr>
        <p:spPr>
          <a:xfrm>
            <a:off x="9372600" y="3877056"/>
            <a:ext cx="2468880" cy="365760"/>
          </a:xfrm>
          <a:prstGeom prst="rect">
            <a:avLst/>
          </a:prstGeom>
          <a:noFill/>
          <a:ln/>
        </p:spPr>
        <p:txBody>
          <a:bodyPr wrap="square" rtlCol="0" anchor="ctr"/>
          <a:lstStyle/>
          <a:p>
            <a:pPr indent="0" marL="0">
              <a:buNone/>
            </a:pPr>
            <a:r>
              <a:rPr lang="en-US" sz="950" dirty="0">
                <a:solidFill>
                  <a:srgbClr val="1A6B3A"/>
                </a:solidFill>
                <a:latin typeface="Calibri Light" pitchFamily="34" charset="0"/>
                <a:ea typeface="Calibri Light" pitchFamily="34" charset="-122"/>
                <a:cs typeface="Calibri Light" pitchFamily="34" charset="-120"/>
              </a:rPr>
              <a:t>✓ Capital: 75% Deployed</a:t>
            </a:r>
            <a:endParaRPr lang="en-US" sz="950" dirty="0"/>
          </a:p>
        </p:txBody>
      </p:sp>
      <p:sp>
        <p:nvSpPr>
          <p:cNvPr id="24" name="Text 22"/>
          <p:cNvSpPr/>
          <p:nvPr/>
        </p:nvSpPr>
        <p:spPr>
          <a:xfrm>
            <a:off x="9372600" y="4315968"/>
            <a:ext cx="2468880" cy="365760"/>
          </a:xfrm>
          <a:prstGeom prst="rect">
            <a:avLst/>
          </a:prstGeom>
          <a:noFill/>
          <a:ln/>
        </p:spPr>
        <p:txBody>
          <a:bodyPr wrap="square" rtlCol="0" anchor="ctr"/>
          <a:lstStyle/>
          <a:p>
            <a:pPr indent="0" marL="0">
              <a:buNone/>
            </a:pPr>
            <a:r>
              <a:rPr lang="en-US" sz="950" dirty="0">
                <a:solidFill>
                  <a:srgbClr val="FFFFFF"/>
                </a:solidFill>
                <a:latin typeface="Calibri Light" pitchFamily="34" charset="0"/>
                <a:ea typeface="Calibri Light" pitchFamily="34" charset="-122"/>
                <a:cs typeface="Calibri Light" pitchFamily="34" charset="-120"/>
              </a:rPr>
              <a:t>Net IRR: 9.1%</a:t>
            </a:r>
            <a:endParaRPr lang="en-US" sz="950" dirty="0"/>
          </a:p>
        </p:txBody>
      </p:sp>
      <p:sp>
        <p:nvSpPr>
          <p:cNvPr id="25" name="Text 23"/>
          <p:cNvSpPr/>
          <p:nvPr/>
        </p:nvSpPr>
        <p:spPr>
          <a:xfrm>
            <a:off x="9372600" y="4754880"/>
            <a:ext cx="2468880" cy="365760"/>
          </a:xfrm>
          <a:prstGeom prst="rect">
            <a:avLst/>
          </a:prstGeom>
          <a:noFill/>
          <a:ln/>
        </p:spPr>
        <p:txBody>
          <a:bodyPr wrap="square" rtlCol="0" anchor="ctr"/>
          <a:lstStyle/>
          <a:p>
            <a:pPr indent="0" marL="0">
              <a:buNone/>
            </a:pPr>
            <a:r>
              <a:rPr lang="en-US" sz="950" dirty="0">
                <a:solidFill>
                  <a:srgbClr val="C9A84C"/>
                </a:solidFill>
                <a:latin typeface="Calibri Light" pitchFamily="34" charset="0"/>
                <a:ea typeface="Calibri Light" pitchFamily="34" charset="-122"/>
                <a:cs typeface="Calibri Light" pitchFamily="34" charset="-120"/>
              </a:rPr>
              <a:t>MOIC: 1.08x</a:t>
            </a:r>
            <a:endParaRPr lang="en-US" sz="950" dirty="0"/>
          </a:p>
        </p:txBody>
      </p:sp>
      <p:sp>
        <p:nvSpPr>
          <p:cNvPr id="26" name="Text 24"/>
          <p:cNvSpPr/>
          <p:nvPr/>
        </p:nvSpPr>
        <p:spPr>
          <a:xfrm>
            <a:off x="320040" y="6565392"/>
            <a:ext cx="5029200" cy="182880"/>
          </a:xfrm>
          <a:prstGeom prst="rect">
            <a:avLst/>
          </a:prstGeom>
          <a:noFill/>
          <a:ln/>
        </p:spPr>
        <p:txBody>
          <a:bodyPr wrap="square" rtlCol="0" anchor="ctr"/>
          <a:lstStyle/>
          <a:p>
            <a:pPr indent="0" marL="0">
              <a:buNone/>
            </a:pPr>
            <a:r>
              <a:rPr lang="en-US" sz="700" dirty="0">
                <a:solidFill>
                  <a:srgbClr val="8899AA"/>
                </a:solidFill>
                <a:latin typeface="Calibri Light" pitchFamily="34" charset="0"/>
                <a:ea typeface="Calibri Light" pitchFamily="34" charset="-122"/>
                <a:cs typeface="Calibri Light" pitchFamily="34" charset="-120"/>
              </a:rPr>
              <a:t>CONFIDENTIAL — FOR LIMITED PARTNERS ONLY</a:t>
            </a:r>
            <a:endParaRPr lang="en-US" sz="700" dirty="0"/>
          </a:p>
        </p:txBody>
      </p:sp>
      <p:sp>
        <p:nvSpPr>
          <p:cNvPr id="27" name="Text 25"/>
          <p:cNvSpPr/>
          <p:nvPr/>
        </p:nvSpPr>
        <p:spPr>
          <a:xfrm>
            <a:off x="5760720" y="6565392"/>
            <a:ext cx="731520" cy="182880"/>
          </a:xfrm>
          <a:prstGeom prst="rect">
            <a:avLst/>
          </a:prstGeom>
          <a:noFill/>
          <a:ln/>
        </p:spPr>
        <p:txBody>
          <a:bodyPr wrap="square" rtlCol="0" anchor="ctr"/>
          <a:lstStyle/>
          <a:p>
            <a:pPr algn="ctr" indent="0" marL="0">
              <a:buNone/>
            </a:pPr>
            <a:r>
              <a:rPr lang="en-US" sz="700" dirty="0">
                <a:solidFill>
                  <a:srgbClr val="8899AA"/>
                </a:solidFill>
                <a:latin typeface="Calibri Light" pitchFamily="34" charset="0"/>
                <a:ea typeface="Calibri Light" pitchFamily="34" charset="-122"/>
                <a:cs typeface="Calibri Light" pitchFamily="34" charset="-120"/>
              </a:rPr>
              <a:t>2 of 9</a:t>
            </a:r>
            <a:endParaRPr lang="en-US" sz="700" dirty="0"/>
          </a:p>
        </p:txBody>
      </p:sp>
      <p:sp>
        <p:nvSpPr>
          <p:cNvPr id="28" name="Text 26"/>
          <p:cNvSpPr/>
          <p:nvPr/>
        </p:nvSpPr>
        <p:spPr>
          <a:xfrm>
            <a:off x="8229600" y="6565392"/>
            <a:ext cx="3749040" cy="182880"/>
          </a:xfrm>
          <a:prstGeom prst="rect">
            <a:avLst/>
          </a:prstGeom>
          <a:noFill/>
          <a:ln/>
        </p:spPr>
        <p:txBody>
          <a:bodyPr wrap="square" rtlCol="0" anchor="ctr"/>
          <a:lstStyle/>
          <a:p>
            <a:pPr algn="r" indent="0" marL="0">
              <a:buNone/>
            </a:pPr>
            <a:r>
              <a:rPr lang="en-US" sz="700" dirty="0">
                <a:solidFill>
                  <a:srgbClr val="8899AA"/>
                </a:solidFill>
                <a:latin typeface="Calibri Light" pitchFamily="34" charset="0"/>
                <a:ea typeface="Calibri Light" pitchFamily="34" charset="-122"/>
                <a:cs typeface="Calibri Light" pitchFamily="34" charset="-120"/>
              </a:rPr>
              <a:t>Cana Capital Fund I  |  April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20040" y="137160"/>
            <a:ext cx="114300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Fund Overview — April 2026</a:t>
            </a:r>
            <a:endParaRPr lang="en-US" sz="2600" dirty="0"/>
          </a:p>
        </p:txBody>
      </p:sp>
      <p:sp>
        <p:nvSpPr>
          <p:cNvPr id="3" name="Shape 1"/>
          <p:cNvSpPr/>
          <p:nvPr/>
        </p:nvSpPr>
        <p:spPr>
          <a:xfrm>
            <a:off x="320040" y="658368"/>
            <a:ext cx="11521440" cy="20117"/>
          </a:xfrm>
          <a:prstGeom prst="rect">
            <a:avLst/>
          </a:prstGeom>
          <a:solidFill>
            <a:srgbClr val="C9A84C"/>
          </a:solidFill>
          <a:ln/>
        </p:spPr>
      </p:sp>
      <p:sp>
        <p:nvSpPr>
          <p:cNvPr id="4" name="Shape 2"/>
          <p:cNvSpPr/>
          <p:nvPr/>
        </p:nvSpPr>
        <p:spPr>
          <a:xfrm>
            <a:off x="320040" y="841248"/>
            <a:ext cx="3703320" cy="1828800"/>
          </a:xfrm>
          <a:prstGeom prst="roundRect">
            <a:avLst>
              <a:gd name="adj" fmla="val 3000"/>
            </a:avLst>
          </a:prstGeom>
          <a:solidFill>
            <a:srgbClr val="FFFFFF"/>
          </a:solidFill>
          <a:ln w="12700">
            <a:solidFill>
              <a:srgbClr val="1B2A4A"/>
            </a:solidFill>
            <a:prstDash val="solid"/>
          </a:ln>
        </p:spPr>
      </p:sp>
      <p:sp>
        <p:nvSpPr>
          <p:cNvPr id="5" name="Shape 3"/>
          <p:cNvSpPr/>
          <p:nvPr/>
        </p:nvSpPr>
        <p:spPr>
          <a:xfrm>
            <a:off x="320040" y="841248"/>
            <a:ext cx="3703320" cy="54864"/>
          </a:xfrm>
          <a:prstGeom prst="rect">
            <a:avLst/>
          </a:prstGeom>
          <a:solidFill>
            <a:srgbClr val="1B2A4A"/>
          </a:solidFill>
          <a:ln/>
        </p:spPr>
      </p:sp>
      <p:sp>
        <p:nvSpPr>
          <p:cNvPr id="6" name="Text 4"/>
          <p:cNvSpPr/>
          <p:nvPr/>
        </p:nvSpPr>
        <p:spPr>
          <a:xfrm>
            <a:off x="411480" y="1005840"/>
            <a:ext cx="3520440" cy="914400"/>
          </a:xfrm>
          <a:prstGeom prst="rect">
            <a:avLst/>
          </a:prstGeom>
          <a:noFill/>
          <a:ln/>
        </p:spPr>
        <p:txBody>
          <a:bodyPr wrap="square" rtlCol="0" anchor="ctr"/>
          <a:lstStyle/>
          <a:p>
            <a:pPr algn="ctr" indent="0" marL="0">
              <a:buNone/>
            </a:pPr>
            <a:r>
              <a:rPr lang="en-US" sz="3800" b="1" dirty="0">
                <a:solidFill>
                  <a:srgbClr val="C9A84C"/>
                </a:solidFill>
                <a:latin typeface="Calibri" pitchFamily="34" charset="0"/>
                <a:ea typeface="Calibri" pitchFamily="34" charset="-122"/>
                <a:cs typeface="Calibri" pitchFamily="34" charset="-120"/>
              </a:rPr>
              <a:t>$118.4M</a:t>
            </a:r>
            <a:endParaRPr lang="en-US" sz="3800" dirty="0"/>
          </a:p>
        </p:txBody>
      </p:sp>
      <p:sp>
        <p:nvSpPr>
          <p:cNvPr id="7" name="Text 5"/>
          <p:cNvSpPr/>
          <p:nvPr/>
        </p:nvSpPr>
        <p:spPr>
          <a:xfrm>
            <a:off x="411480" y="1938528"/>
            <a:ext cx="3520440" cy="347472"/>
          </a:xfrm>
          <a:prstGeom prst="rect">
            <a:avLst/>
          </a:prstGeom>
          <a:noFill/>
          <a:ln/>
        </p:spPr>
        <p:txBody>
          <a:bodyPr wrap="square" rtlCol="0" anchor="ctr"/>
          <a:lstStyle/>
          <a:p>
            <a:pPr algn="ctr" indent="0" marL="0">
              <a:buNone/>
            </a:pPr>
            <a:r>
              <a:rPr lang="en-US" sz="1000" dirty="0">
                <a:solidFill>
                  <a:srgbClr val="2C3E50"/>
                </a:solidFill>
                <a:latin typeface="Calibri Light" pitchFamily="34" charset="0"/>
                <a:ea typeface="Calibri Light" pitchFamily="34" charset="-122"/>
                <a:cs typeface="Calibri Light" pitchFamily="34" charset="-120"/>
              </a:rPr>
              <a:t>Total Fund NAV</a:t>
            </a:r>
            <a:endParaRPr lang="en-US" sz="1000" dirty="0"/>
          </a:p>
        </p:txBody>
      </p:sp>
      <p:sp>
        <p:nvSpPr>
          <p:cNvPr id="8" name="Text 6"/>
          <p:cNvSpPr/>
          <p:nvPr/>
        </p:nvSpPr>
        <p:spPr>
          <a:xfrm>
            <a:off x="411480" y="2304288"/>
            <a:ext cx="3520440" cy="274320"/>
          </a:xfrm>
          <a:prstGeom prst="rect">
            <a:avLst/>
          </a:prstGeom>
          <a:noFill/>
          <a:ln/>
        </p:spPr>
        <p:txBody>
          <a:bodyPr wrap="square" rtlCol="0" anchor="ctr"/>
          <a:lstStyle/>
          <a:p>
            <a:pPr algn="ctr" indent="0" marL="0">
              <a:buNone/>
            </a:pPr>
            <a:r>
              <a:rPr lang="en-US" sz="900" b="1" dirty="0">
                <a:solidFill>
                  <a:srgbClr val="1A6B3A"/>
                </a:solidFill>
                <a:latin typeface="Calibri" pitchFamily="34" charset="0"/>
                <a:ea typeface="Calibri" pitchFamily="34" charset="-122"/>
                <a:cs typeface="Calibri" pitchFamily="34" charset="-120"/>
              </a:rPr>
              <a:t>▲ 1.6%</a:t>
            </a:r>
            <a:endParaRPr lang="en-US" sz="900" dirty="0"/>
          </a:p>
        </p:txBody>
      </p:sp>
      <p:sp>
        <p:nvSpPr>
          <p:cNvPr id="9" name="Shape 7"/>
          <p:cNvSpPr/>
          <p:nvPr/>
        </p:nvSpPr>
        <p:spPr>
          <a:xfrm>
            <a:off x="4206240" y="841248"/>
            <a:ext cx="3703320" cy="1828800"/>
          </a:xfrm>
          <a:prstGeom prst="roundRect">
            <a:avLst>
              <a:gd name="adj" fmla="val 3000"/>
            </a:avLst>
          </a:prstGeom>
          <a:solidFill>
            <a:srgbClr val="FFFFFF"/>
          </a:solidFill>
          <a:ln w="12700">
            <a:solidFill>
              <a:srgbClr val="1B2A4A"/>
            </a:solidFill>
            <a:prstDash val="solid"/>
          </a:ln>
        </p:spPr>
      </p:sp>
      <p:sp>
        <p:nvSpPr>
          <p:cNvPr id="10" name="Shape 8"/>
          <p:cNvSpPr/>
          <p:nvPr/>
        </p:nvSpPr>
        <p:spPr>
          <a:xfrm>
            <a:off x="4206240" y="841248"/>
            <a:ext cx="3703320" cy="54864"/>
          </a:xfrm>
          <a:prstGeom prst="rect">
            <a:avLst/>
          </a:prstGeom>
          <a:solidFill>
            <a:srgbClr val="1B2A4A"/>
          </a:solidFill>
          <a:ln/>
        </p:spPr>
      </p:sp>
      <p:sp>
        <p:nvSpPr>
          <p:cNvPr id="11" name="Text 9"/>
          <p:cNvSpPr/>
          <p:nvPr/>
        </p:nvSpPr>
        <p:spPr>
          <a:xfrm>
            <a:off x="4297680" y="1005840"/>
            <a:ext cx="3520440" cy="914400"/>
          </a:xfrm>
          <a:prstGeom prst="rect">
            <a:avLst/>
          </a:prstGeom>
          <a:noFill/>
          <a:ln/>
        </p:spPr>
        <p:txBody>
          <a:bodyPr wrap="square" rtlCol="0" anchor="ctr"/>
          <a:lstStyle/>
          <a:p>
            <a:pPr algn="ctr" indent="0" marL="0">
              <a:buNone/>
            </a:pPr>
            <a:r>
              <a:rPr lang="en-US" sz="3800" b="1" dirty="0">
                <a:solidFill>
                  <a:srgbClr val="C9A84C"/>
                </a:solidFill>
                <a:latin typeface="Calibri" pitchFamily="34" charset="0"/>
                <a:ea typeface="Calibri" pitchFamily="34" charset="-122"/>
                <a:cs typeface="Calibri" pitchFamily="34" charset="-120"/>
              </a:rPr>
              <a:t>$145.2M</a:t>
            </a:r>
            <a:endParaRPr lang="en-US" sz="3800" dirty="0"/>
          </a:p>
        </p:txBody>
      </p:sp>
      <p:sp>
        <p:nvSpPr>
          <p:cNvPr id="12" name="Text 10"/>
          <p:cNvSpPr/>
          <p:nvPr/>
        </p:nvSpPr>
        <p:spPr>
          <a:xfrm>
            <a:off x="4297680" y="1938528"/>
            <a:ext cx="3520440" cy="347472"/>
          </a:xfrm>
          <a:prstGeom prst="rect">
            <a:avLst/>
          </a:prstGeom>
          <a:noFill/>
          <a:ln/>
        </p:spPr>
        <p:txBody>
          <a:bodyPr wrap="square" rtlCol="0" anchor="ctr"/>
          <a:lstStyle/>
          <a:p>
            <a:pPr algn="ctr" indent="0" marL="0">
              <a:buNone/>
            </a:pPr>
            <a:r>
              <a:rPr lang="en-US" sz="1000" dirty="0">
                <a:solidFill>
                  <a:srgbClr val="2C3E50"/>
                </a:solidFill>
                <a:latin typeface="Calibri Light" pitchFamily="34" charset="0"/>
                <a:ea typeface="Calibri Light" pitchFamily="34" charset="-122"/>
                <a:cs typeface="Calibri Light" pitchFamily="34" charset="-120"/>
              </a:rPr>
              <a:t>Gross Asset Value</a:t>
            </a:r>
            <a:endParaRPr lang="en-US" sz="1000" dirty="0"/>
          </a:p>
        </p:txBody>
      </p:sp>
      <p:sp>
        <p:nvSpPr>
          <p:cNvPr id="13" name="Text 11"/>
          <p:cNvSpPr/>
          <p:nvPr/>
        </p:nvSpPr>
        <p:spPr>
          <a:xfrm>
            <a:off x="4297680" y="2304288"/>
            <a:ext cx="3520440" cy="274320"/>
          </a:xfrm>
          <a:prstGeom prst="rect">
            <a:avLst/>
          </a:prstGeom>
          <a:noFill/>
          <a:ln/>
        </p:spPr>
        <p:txBody>
          <a:bodyPr wrap="square" rtlCol="0" anchor="ctr"/>
          <a:lstStyle/>
          <a:p>
            <a:pPr algn="ctr" indent="0" marL="0">
              <a:buNone/>
            </a:pPr>
            <a:r>
              <a:rPr lang="en-US" sz="900" b="1" dirty="0">
                <a:solidFill>
                  <a:srgbClr val="1A6B3A"/>
                </a:solidFill>
                <a:latin typeface="Calibri" pitchFamily="34" charset="0"/>
                <a:ea typeface="Calibri" pitchFamily="34" charset="-122"/>
                <a:cs typeface="Calibri" pitchFamily="34" charset="-120"/>
              </a:rPr>
              <a:t>▲ +$2.1M vs. prior month</a:t>
            </a:r>
            <a:endParaRPr lang="en-US" sz="900" dirty="0"/>
          </a:p>
        </p:txBody>
      </p:sp>
      <p:sp>
        <p:nvSpPr>
          <p:cNvPr id="14" name="Shape 12"/>
          <p:cNvSpPr/>
          <p:nvPr/>
        </p:nvSpPr>
        <p:spPr>
          <a:xfrm>
            <a:off x="8092440" y="841248"/>
            <a:ext cx="3703320" cy="1828800"/>
          </a:xfrm>
          <a:prstGeom prst="roundRect">
            <a:avLst>
              <a:gd name="adj" fmla="val 3000"/>
            </a:avLst>
          </a:prstGeom>
          <a:solidFill>
            <a:srgbClr val="FFFFFF"/>
          </a:solidFill>
          <a:ln w="12700">
            <a:solidFill>
              <a:srgbClr val="1B2A4A"/>
            </a:solidFill>
            <a:prstDash val="solid"/>
          </a:ln>
        </p:spPr>
      </p:sp>
      <p:sp>
        <p:nvSpPr>
          <p:cNvPr id="15" name="Shape 13"/>
          <p:cNvSpPr/>
          <p:nvPr/>
        </p:nvSpPr>
        <p:spPr>
          <a:xfrm>
            <a:off x="8092440" y="841248"/>
            <a:ext cx="3703320" cy="54864"/>
          </a:xfrm>
          <a:prstGeom prst="rect">
            <a:avLst/>
          </a:prstGeom>
          <a:solidFill>
            <a:srgbClr val="1B2A4A"/>
          </a:solidFill>
          <a:ln/>
        </p:spPr>
      </p:sp>
      <p:sp>
        <p:nvSpPr>
          <p:cNvPr id="16" name="Text 14"/>
          <p:cNvSpPr/>
          <p:nvPr/>
        </p:nvSpPr>
        <p:spPr>
          <a:xfrm>
            <a:off x="8183880" y="1005840"/>
            <a:ext cx="3520440" cy="914400"/>
          </a:xfrm>
          <a:prstGeom prst="rect">
            <a:avLst/>
          </a:prstGeom>
          <a:noFill/>
          <a:ln/>
        </p:spPr>
        <p:txBody>
          <a:bodyPr wrap="square" rtlCol="0" anchor="ctr"/>
          <a:lstStyle/>
          <a:p>
            <a:pPr algn="ctr" indent="0" marL="0">
              <a:buNone/>
            </a:pPr>
            <a:r>
              <a:rPr lang="en-US" sz="3800" b="1" dirty="0">
                <a:solidFill>
                  <a:srgbClr val="C9A84C"/>
                </a:solidFill>
                <a:latin typeface="Calibri" pitchFamily="34" charset="0"/>
                <a:ea typeface="Calibri" pitchFamily="34" charset="-122"/>
                <a:cs typeface="Calibri" pitchFamily="34" charset="-120"/>
              </a:rPr>
              <a:t>$112.5M</a:t>
            </a:r>
            <a:endParaRPr lang="en-US" sz="3800" dirty="0"/>
          </a:p>
        </p:txBody>
      </p:sp>
      <p:sp>
        <p:nvSpPr>
          <p:cNvPr id="17" name="Text 15"/>
          <p:cNvSpPr/>
          <p:nvPr/>
        </p:nvSpPr>
        <p:spPr>
          <a:xfrm>
            <a:off x="8183880" y="1938528"/>
            <a:ext cx="3520440" cy="347472"/>
          </a:xfrm>
          <a:prstGeom prst="rect">
            <a:avLst/>
          </a:prstGeom>
          <a:noFill/>
          <a:ln/>
        </p:spPr>
        <p:txBody>
          <a:bodyPr wrap="square" rtlCol="0" anchor="ctr"/>
          <a:lstStyle/>
          <a:p>
            <a:pPr algn="ctr" indent="0" marL="0">
              <a:buNone/>
            </a:pPr>
            <a:r>
              <a:rPr lang="en-US" sz="1000" dirty="0">
                <a:solidFill>
                  <a:srgbClr val="2C3E50"/>
                </a:solidFill>
                <a:latin typeface="Calibri Light" pitchFamily="34" charset="0"/>
                <a:ea typeface="Calibri Light" pitchFamily="34" charset="-122"/>
                <a:cs typeface="Calibri Light" pitchFamily="34" charset="-120"/>
              </a:rPr>
              <a:t>Total Called Capital</a:t>
            </a:r>
            <a:endParaRPr lang="en-US" sz="1000" dirty="0"/>
          </a:p>
        </p:txBody>
      </p:sp>
      <p:sp>
        <p:nvSpPr>
          <p:cNvPr id="18" name="Text 16"/>
          <p:cNvSpPr/>
          <p:nvPr/>
        </p:nvSpPr>
        <p:spPr>
          <a:xfrm>
            <a:off x="8183880" y="2304288"/>
            <a:ext cx="3520440" cy="274320"/>
          </a:xfrm>
          <a:prstGeom prst="rect">
            <a:avLst/>
          </a:prstGeom>
          <a:noFill/>
          <a:ln/>
        </p:spPr>
        <p:txBody>
          <a:bodyPr wrap="square" rtlCol="0" anchor="ctr"/>
          <a:lstStyle/>
          <a:p>
            <a:pPr algn="ctr" indent="0" marL="0">
              <a:buNone/>
            </a:pPr>
            <a:r>
              <a:rPr lang="en-US" sz="900" b="1" dirty="0">
                <a:solidFill>
                  <a:srgbClr val="1A6B3A"/>
                </a:solidFill>
                <a:latin typeface="Calibri" pitchFamily="34" charset="0"/>
                <a:ea typeface="Calibri" pitchFamily="34" charset="-122"/>
                <a:cs typeface="Calibri" pitchFamily="34" charset="-120"/>
              </a:rPr>
              <a:t>▲ 1.8%</a:t>
            </a:r>
            <a:endParaRPr lang="en-US" sz="900" dirty="0"/>
          </a:p>
        </p:txBody>
      </p:sp>
      <p:sp>
        <p:nvSpPr>
          <p:cNvPr id="19" name="Shape 17"/>
          <p:cNvSpPr/>
          <p:nvPr/>
        </p:nvSpPr>
        <p:spPr>
          <a:xfrm>
            <a:off x="320040" y="2852928"/>
            <a:ext cx="3703320" cy="1828800"/>
          </a:xfrm>
          <a:prstGeom prst="roundRect">
            <a:avLst>
              <a:gd name="adj" fmla="val 3000"/>
            </a:avLst>
          </a:prstGeom>
          <a:solidFill>
            <a:srgbClr val="FFFFFF"/>
          </a:solidFill>
          <a:ln w="12700">
            <a:solidFill>
              <a:srgbClr val="1B2A4A"/>
            </a:solidFill>
            <a:prstDash val="solid"/>
          </a:ln>
        </p:spPr>
      </p:sp>
      <p:sp>
        <p:nvSpPr>
          <p:cNvPr id="20" name="Shape 18"/>
          <p:cNvSpPr/>
          <p:nvPr/>
        </p:nvSpPr>
        <p:spPr>
          <a:xfrm>
            <a:off x="320040" y="2852928"/>
            <a:ext cx="3703320" cy="54864"/>
          </a:xfrm>
          <a:prstGeom prst="rect">
            <a:avLst/>
          </a:prstGeom>
          <a:solidFill>
            <a:srgbClr val="1B2A4A"/>
          </a:solidFill>
          <a:ln/>
        </p:spPr>
      </p:sp>
      <p:sp>
        <p:nvSpPr>
          <p:cNvPr id="21" name="Text 19"/>
          <p:cNvSpPr/>
          <p:nvPr/>
        </p:nvSpPr>
        <p:spPr>
          <a:xfrm>
            <a:off x="411480" y="3017520"/>
            <a:ext cx="3520440" cy="914400"/>
          </a:xfrm>
          <a:prstGeom prst="rect">
            <a:avLst/>
          </a:prstGeom>
          <a:noFill/>
          <a:ln/>
        </p:spPr>
        <p:txBody>
          <a:bodyPr wrap="square" rtlCol="0" anchor="ctr"/>
          <a:lstStyle/>
          <a:p>
            <a:pPr algn="ctr" indent="0" marL="0">
              <a:buNone/>
            </a:pPr>
            <a:r>
              <a:rPr lang="en-US" sz="3800" b="1" dirty="0">
                <a:solidFill>
                  <a:srgbClr val="C9A84C"/>
                </a:solidFill>
                <a:latin typeface="Calibri" pitchFamily="34" charset="0"/>
                <a:ea typeface="Calibri" pitchFamily="34" charset="-122"/>
                <a:cs typeface="Calibri" pitchFamily="34" charset="-120"/>
              </a:rPr>
              <a:t>$37.5M</a:t>
            </a:r>
            <a:endParaRPr lang="en-US" sz="3800" dirty="0"/>
          </a:p>
        </p:txBody>
      </p:sp>
      <p:sp>
        <p:nvSpPr>
          <p:cNvPr id="22" name="Text 20"/>
          <p:cNvSpPr/>
          <p:nvPr/>
        </p:nvSpPr>
        <p:spPr>
          <a:xfrm>
            <a:off x="411480" y="3950208"/>
            <a:ext cx="3520440" cy="347472"/>
          </a:xfrm>
          <a:prstGeom prst="rect">
            <a:avLst/>
          </a:prstGeom>
          <a:noFill/>
          <a:ln/>
        </p:spPr>
        <p:txBody>
          <a:bodyPr wrap="square" rtlCol="0" anchor="ctr"/>
          <a:lstStyle/>
          <a:p>
            <a:pPr algn="ctr" indent="0" marL="0">
              <a:buNone/>
            </a:pPr>
            <a:r>
              <a:rPr lang="en-US" sz="1000" dirty="0">
                <a:solidFill>
                  <a:srgbClr val="2C3E50"/>
                </a:solidFill>
                <a:latin typeface="Calibri Light" pitchFamily="34" charset="0"/>
                <a:ea typeface="Calibri Light" pitchFamily="34" charset="-122"/>
                <a:cs typeface="Calibri Light" pitchFamily="34" charset="-120"/>
              </a:rPr>
              <a:t>Dry Powder / Uncalled</a:t>
            </a:r>
            <a:endParaRPr lang="en-US" sz="1000" dirty="0"/>
          </a:p>
        </p:txBody>
      </p:sp>
      <p:sp>
        <p:nvSpPr>
          <p:cNvPr id="23" name="Text 21"/>
          <p:cNvSpPr/>
          <p:nvPr/>
        </p:nvSpPr>
        <p:spPr>
          <a:xfrm>
            <a:off x="411480" y="4315968"/>
            <a:ext cx="3520440" cy="274320"/>
          </a:xfrm>
          <a:prstGeom prst="rect">
            <a:avLst/>
          </a:prstGeom>
          <a:noFill/>
          <a:ln/>
        </p:spPr>
        <p:txBody>
          <a:bodyPr wrap="square" rtlCol="0" anchor="ctr"/>
          <a:lstStyle/>
          <a:p>
            <a:pPr algn="ctr" indent="0" marL="0">
              <a:buNone/>
            </a:pPr>
            <a:r>
              <a:rPr lang="en-US" sz="900" b="1" dirty="0">
                <a:solidFill>
                  <a:srgbClr val="8899AA"/>
                </a:solidFill>
                <a:latin typeface="Calibri" pitchFamily="34" charset="0"/>
                <a:ea typeface="Calibri" pitchFamily="34" charset="-122"/>
                <a:cs typeface="Calibri" pitchFamily="34" charset="-120"/>
              </a:rPr>
              <a:t>25.0% of committed</a:t>
            </a:r>
            <a:endParaRPr lang="en-US" sz="900" dirty="0"/>
          </a:p>
        </p:txBody>
      </p:sp>
      <p:sp>
        <p:nvSpPr>
          <p:cNvPr id="24" name="Shape 22"/>
          <p:cNvSpPr/>
          <p:nvPr/>
        </p:nvSpPr>
        <p:spPr>
          <a:xfrm>
            <a:off x="4206240" y="2852928"/>
            <a:ext cx="3703320" cy="1828800"/>
          </a:xfrm>
          <a:prstGeom prst="roundRect">
            <a:avLst>
              <a:gd name="adj" fmla="val 3000"/>
            </a:avLst>
          </a:prstGeom>
          <a:solidFill>
            <a:srgbClr val="FFFFFF"/>
          </a:solidFill>
          <a:ln w="12700">
            <a:solidFill>
              <a:srgbClr val="1B2A4A"/>
            </a:solidFill>
            <a:prstDash val="solid"/>
          </a:ln>
        </p:spPr>
      </p:sp>
      <p:sp>
        <p:nvSpPr>
          <p:cNvPr id="25" name="Shape 23"/>
          <p:cNvSpPr/>
          <p:nvPr/>
        </p:nvSpPr>
        <p:spPr>
          <a:xfrm>
            <a:off x="4206240" y="2852928"/>
            <a:ext cx="3703320" cy="54864"/>
          </a:xfrm>
          <a:prstGeom prst="rect">
            <a:avLst/>
          </a:prstGeom>
          <a:solidFill>
            <a:srgbClr val="1B2A4A"/>
          </a:solidFill>
          <a:ln/>
        </p:spPr>
      </p:sp>
      <p:sp>
        <p:nvSpPr>
          <p:cNvPr id="26" name="Text 24"/>
          <p:cNvSpPr/>
          <p:nvPr/>
        </p:nvSpPr>
        <p:spPr>
          <a:xfrm>
            <a:off x="4297680" y="3017520"/>
            <a:ext cx="3520440" cy="914400"/>
          </a:xfrm>
          <a:prstGeom prst="rect">
            <a:avLst/>
          </a:prstGeom>
          <a:noFill/>
          <a:ln/>
        </p:spPr>
        <p:txBody>
          <a:bodyPr wrap="square" rtlCol="0" anchor="ctr"/>
          <a:lstStyle/>
          <a:p>
            <a:pPr algn="ctr" indent="0" marL="0">
              <a:buNone/>
            </a:pPr>
            <a:r>
              <a:rPr lang="en-US" sz="3800" b="1" dirty="0">
                <a:solidFill>
                  <a:srgbClr val="C9A84C"/>
                </a:solidFill>
                <a:latin typeface="Calibri" pitchFamily="34" charset="0"/>
                <a:ea typeface="Calibri" pitchFamily="34" charset="-122"/>
                <a:cs typeface="Calibri" pitchFamily="34" charset="-120"/>
              </a:rPr>
              <a:t>$150.0M</a:t>
            </a:r>
            <a:endParaRPr lang="en-US" sz="3800" dirty="0"/>
          </a:p>
        </p:txBody>
      </p:sp>
      <p:sp>
        <p:nvSpPr>
          <p:cNvPr id="27" name="Text 25"/>
          <p:cNvSpPr/>
          <p:nvPr/>
        </p:nvSpPr>
        <p:spPr>
          <a:xfrm>
            <a:off x="4297680" y="3950208"/>
            <a:ext cx="3520440" cy="347472"/>
          </a:xfrm>
          <a:prstGeom prst="rect">
            <a:avLst/>
          </a:prstGeom>
          <a:noFill/>
          <a:ln/>
        </p:spPr>
        <p:txBody>
          <a:bodyPr wrap="square" rtlCol="0" anchor="ctr"/>
          <a:lstStyle/>
          <a:p>
            <a:pPr algn="ctr" indent="0" marL="0">
              <a:buNone/>
            </a:pPr>
            <a:r>
              <a:rPr lang="en-US" sz="1000" dirty="0">
                <a:solidFill>
                  <a:srgbClr val="2C3E50"/>
                </a:solidFill>
                <a:latin typeface="Calibri Light" pitchFamily="34" charset="0"/>
                <a:ea typeface="Calibri Light" pitchFamily="34" charset="-122"/>
                <a:cs typeface="Calibri Light" pitchFamily="34" charset="-120"/>
              </a:rPr>
              <a:t>Total Committed Capital</a:t>
            </a:r>
            <a:endParaRPr lang="en-US" sz="1000" dirty="0"/>
          </a:p>
        </p:txBody>
      </p:sp>
      <p:sp>
        <p:nvSpPr>
          <p:cNvPr id="28" name="Text 26"/>
          <p:cNvSpPr/>
          <p:nvPr/>
        </p:nvSpPr>
        <p:spPr>
          <a:xfrm>
            <a:off x="4297680" y="4315968"/>
            <a:ext cx="3520440" cy="274320"/>
          </a:xfrm>
          <a:prstGeom prst="rect">
            <a:avLst/>
          </a:prstGeom>
          <a:noFill/>
          <a:ln/>
        </p:spPr>
        <p:txBody>
          <a:bodyPr wrap="square" rtlCol="0" anchor="ctr"/>
          <a:lstStyle/>
          <a:p>
            <a:pPr algn="ctr" indent="0" marL="0">
              <a:buNone/>
            </a:pPr>
            <a:r>
              <a:rPr lang="en-US" sz="900" b="1" dirty="0">
                <a:solidFill>
                  <a:srgbClr val="8899AA"/>
                </a:solidFill>
                <a:latin typeface="Calibri" pitchFamily="34" charset="0"/>
                <a:ea typeface="Calibri" pitchFamily="34" charset="-122"/>
                <a:cs typeface="Calibri" pitchFamily="34" charset="-120"/>
              </a:rPr>
              <a:t>Fund target</a:t>
            </a:r>
            <a:endParaRPr lang="en-US" sz="900" dirty="0"/>
          </a:p>
        </p:txBody>
      </p:sp>
      <p:sp>
        <p:nvSpPr>
          <p:cNvPr id="29" name="Shape 27"/>
          <p:cNvSpPr/>
          <p:nvPr/>
        </p:nvSpPr>
        <p:spPr>
          <a:xfrm>
            <a:off x="8092440" y="2852928"/>
            <a:ext cx="3703320" cy="1828800"/>
          </a:xfrm>
          <a:prstGeom prst="roundRect">
            <a:avLst>
              <a:gd name="adj" fmla="val 3000"/>
            </a:avLst>
          </a:prstGeom>
          <a:solidFill>
            <a:srgbClr val="FFFFFF"/>
          </a:solidFill>
          <a:ln w="12700">
            <a:solidFill>
              <a:srgbClr val="1B2A4A"/>
            </a:solidFill>
            <a:prstDash val="solid"/>
          </a:ln>
        </p:spPr>
      </p:sp>
      <p:sp>
        <p:nvSpPr>
          <p:cNvPr id="30" name="Shape 28"/>
          <p:cNvSpPr/>
          <p:nvPr/>
        </p:nvSpPr>
        <p:spPr>
          <a:xfrm>
            <a:off x="8092440" y="2852928"/>
            <a:ext cx="3703320" cy="54864"/>
          </a:xfrm>
          <a:prstGeom prst="rect">
            <a:avLst/>
          </a:prstGeom>
          <a:solidFill>
            <a:srgbClr val="1B2A4A"/>
          </a:solidFill>
          <a:ln/>
        </p:spPr>
      </p:sp>
      <p:sp>
        <p:nvSpPr>
          <p:cNvPr id="31" name="Text 29"/>
          <p:cNvSpPr/>
          <p:nvPr/>
        </p:nvSpPr>
        <p:spPr>
          <a:xfrm>
            <a:off x="8183880" y="3017520"/>
            <a:ext cx="3520440" cy="914400"/>
          </a:xfrm>
          <a:prstGeom prst="rect">
            <a:avLst/>
          </a:prstGeom>
          <a:noFill/>
          <a:ln/>
        </p:spPr>
        <p:txBody>
          <a:bodyPr wrap="square" rtlCol="0" anchor="ctr"/>
          <a:lstStyle/>
          <a:p>
            <a:pPr algn="ctr" indent="0" marL="0">
              <a:buNone/>
            </a:pPr>
            <a:r>
              <a:rPr lang="en-US" sz="3800" b="1" dirty="0">
                <a:solidFill>
                  <a:srgbClr val="C9A84C"/>
                </a:solidFill>
                <a:latin typeface="Calibri" pitchFamily="34" charset="0"/>
                <a:ea typeface="Calibri" pitchFamily="34" charset="-122"/>
                <a:cs typeface="Calibri" pitchFamily="34" charset="-120"/>
              </a:rPr>
              <a:t>$105.24</a:t>
            </a:r>
            <a:endParaRPr lang="en-US" sz="3800" dirty="0"/>
          </a:p>
        </p:txBody>
      </p:sp>
      <p:sp>
        <p:nvSpPr>
          <p:cNvPr id="32" name="Text 30"/>
          <p:cNvSpPr/>
          <p:nvPr/>
        </p:nvSpPr>
        <p:spPr>
          <a:xfrm>
            <a:off x="8183880" y="3950208"/>
            <a:ext cx="3520440" cy="347472"/>
          </a:xfrm>
          <a:prstGeom prst="rect">
            <a:avLst/>
          </a:prstGeom>
          <a:noFill/>
          <a:ln/>
        </p:spPr>
        <p:txBody>
          <a:bodyPr wrap="square" rtlCol="0" anchor="ctr"/>
          <a:lstStyle/>
          <a:p>
            <a:pPr algn="ctr" indent="0" marL="0">
              <a:buNone/>
            </a:pPr>
            <a:r>
              <a:rPr lang="en-US" sz="1000" dirty="0">
                <a:solidFill>
                  <a:srgbClr val="2C3E50"/>
                </a:solidFill>
                <a:latin typeface="Calibri Light" pitchFamily="34" charset="0"/>
                <a:ea typeface="Calibri Light" pitchFamily="34" charset="-122"/>
                <a:cs typeface="Calibri Light" pitchFamily="34" charset="-120"/>
              </a:rPr>
              <a:t>NAV per Unit</a:t>
            </a:r>
            <a:endParaRPr lang="en-US" sz="1000" dirty="0"/>
          </a:p>
        </p:txBody>
      </p:sp>
      <p:sp>
        <p:nvSpPr>
          <p:cNvPr id="33" name="Text 31"/>
          <p:cNvSpPr/>
          <p:nvPr/>
        </p:nvSpPr>
        <p:spPr>
          <a:xfrm>
            <a:off x="8183880" y="4315968"/>
            <a:ext cx="3520440" cy="274320"/>
          </a:xfrm>
          <a:prstGeom prst="rect">
            <a:avLst/>
          </a:prstGeom>
          <a:noFill/>
          <a:ln/>
        </p:spPr>
        <p:txBody>
          <a:bodyPr wrap="square" rtlCol="0" anchor="ctr"/>
          <a:lstStyle/>
          <a:p>
            <a:pPr algn="ctr" indent="0" marL="0">
              <a:buNone/>
            </a:pPr>
            <a:r>
              <a:rPr lang="en-US" sz="900" b="1" dirty="0">
                <a:solidFill>
                  <a:srgbClr val="1A6B3A"/>
                </a:solidFill>
                <a:latin typeface="Calibri" pitchFamily="34" charset="0"/>
                <a:ea typeface="Calibri" pitchFamily="34" charset="-122"/>
                <a:cs typeface="Calibri" pitchFamily="34" charset="-120"/>
              </a:rPr>
              <a:t>▲ +$1.59 vs. prior month</a:t>
            </a:r>
            <a:endParaRPr lang="en-US" sz="900" dirty="0"/>
          </a:p>
        </p:txBody>
      </p:sp>
      <p:sp>
        <p:nvSpPr>
          <p:cNvPr id="34" name="Text 32"/>
          <p:cNvSpPr/>
          <p:nvPr/>
        </p:nvSpPr>
        <p:spPr>
          <a:xfrm>
            <a:off x="320040" y="6565392"/>
            <a:ext cx="5029200" cy="182880"/>
          </a:xfrm>
          <a:prstGeom prst="rect">
            <a:avLst/>
          </a:prstGeom>
          <a:noFill/>
          <a:ln/>
        </p:spPr>
        <p:txBody>
          <a:bodyPr wrap="square" rtlCol="0" anchor="ctr"/>
          <a:lstStyle/>
          <a:p>
            <a:pPr indent="0" marL="0">
              <a:buNone/>
            </a:pPr>
            <a:r>
              <a:rPr lang="en-US" sz="700" dirty="0">
                <a:solidFill>
                  <a:srgbClr val="8899AA"/>
                </a:solidFill>
                <a:latin typeface="Calibri Light" pitchFamily="34" charset="0"/>
                <a:ea typeface="Calibri Light" pitchFamily="34" charset="-122"/>
                <a:cs typeface="Calibri Light" pitchFamily="34" charset="-120"/>
              </a:rPr>
              <a:t>CONFIDENTIAL — FOR LIMITED PARTNERS ONLY</a:t>
            </a:r>
            <a:endParaRPr lang="en-US" sz="700" dirty="0"/>
          </a:p>
        </p:txBody>
      </p:sp>
      <p:sp>
        <p:nvSpPr>
          <p:cNvPr id="35" name="Text 33"/>
          <p:cNvSpPr/>
          <p:nvPr/>
        </p:nvSpPr>
        <p:spPr>
          <a:xfrm>
            <a:off x="5760720" y="6565392"/>
            <a:ext cx="731520" cy="182880"/>
          </a:xfrm>
          <a:prstGeom prst="rect">
            <a:avLst/>
          </a:prstGeom>
          <a:noFill/>
          <a:ln/>
        </p:spPr>
        <p:txBody>
          <a:bodyPr wrap="square" rtlCol="0" anchor="ctr"/>
          <a:lstStyle/>
          <a:p>
            <a:pPr algn="ctr" indent="0" marL="0">
              <a:buNone/>
            </a:pPr>
            <a:r>
              <a:rPr lang="en-US" sz="700" dirty="0">
                <a:solidFill>
                  <a:srgbClr val="8899AA"/>
                </a:solidFill>
                <a:latin typeface="Calibri Light" pitchFamily="34" charset="0"/>
                <a:ea typeface="Calibri Light" pitchFamily="34" charset="-122"/>
                <a:cs typeface="Calibri Light" pitchFamily="34" charset="-120"/>
              </a:rPr>
              <a:t>3 of 9</a:t>
            </a:r>
            <a:endParaRPr lang="en-US" sz="700" dirty="0"/>
          </a:p>
        </p:txBody>
      </p:sp>
      <p:sp>
        <p:nvSpPr>
          <p:cNvPr id="36" name="Text 34"/>
          <p:cNvSpPr/>
          <p:nvPr/>
        </p:nvSpPr>
        <p:spPr>
          <a:xfrm>
            <a:off x="8229600" y="6565392"/>
            <a:ext cx="3749040" cy="182880"/>
          </a:xfrm>
          <a:prstGeom prst="rect">
            <a:avLst/>
          </a:prstGeom>
          <a:noFill/>
          <a:ln/>
        </p:spPr>
        <p:txBody>
          <a:bodyPr wrap="square" rtlCol="0" anchor="ctr"/>
          <a:lstStyle/>
          <a:p>
            <a:pPr algn="r" indent="0" marL="0">
              <a:buNone/>
            </a:pPr>
            <a:r>
              <a:rPr lang="en-US" sz="700" dirty="0">
                <a:solidFill>
                  <a:srgbClr val="8899AA"/>
                </a:solidFill>
                <a:latin typeface="Calibri Light" pitchFamily="34" charset="0"/>
                <a:ea typeface="Calibri Light" pitchFamily="34" charset="-122"/>
                <a:cs typeface="Calibri Light" pitchFamily="34" charset="-120"/>
              </a:rPr>
              <a:t>Cana Capital Fund I  |  April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20040" y="182880"/>
            <a:ext cx="11430000" cy="54864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Loan Portfolio Snapshot</a:t>
            </a:r>
            <a:endParaRPr lang="en-US" sz="2600" dirty="0"/>
          </a:p>
        </p:txBody>
      </p:sp>
      <p:sp>
        <p:nvSpPr>
          <p:cNvPr id="3" name="Shape 1"/>
          <p:cNvSpPr/>
          <p:nvPr/>
        </p:nvSpPr>
        <p:spPr>
          <a:xfrm>
            <a:off x="320040" y="749808"/>
            <a:ext cx="11521440" cy="20117"/>
          </a:xfrm>
          <a:prstGeom prst="rect">
            <a:avLst/>
          </a:prstGeom>
          <a:solidFill>
            <a:srgbClr val="C9A84C"/>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5486400" cy="914400"/>
        </p:xfrm>
        <a:graphic>
          <a:graphicData uri="http://schemas.openxmlformats.org/drawingml/2006/table">
            <a:tbl>
              <a:tblPr/>
              <a:tblGrid>
                <a:gridCol w="2560320"/>
                <a:gridCol w="960120"/>
                <a:gridCol w="960120"/>
                <a:gridCol w="1005840"/>
              </a:tblGrid>
              <a:tr h="34747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Apr 2026</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Mar 2026</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Δ Change</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Total Loan Book Balance</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$138.2M</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$136.0M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A6B3A"/>
                          </a:solidFill>
                          <a:latin typeface="Calibri" pitchFamily="34" charset="0"/>
                          <a:ea typeface="Calibri" pitchFamily="34" charset="-122"/>
                          <a:cs typeface="Calibri" pitchFamily="34" charset="-120"/>
                        </a:rPr>
                        <a:t>▲ 1.6%</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Number of Active Loans</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13</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1A6B3A"/>
                          </a:solidFill>
                          <a:latin typeface="Calibri" pitchFamily="34" charset="0"/>
                          <a:ea typeface="Calibri" pitchFamily="34" charset="-122"/>
                          <a:cs typeface="Calibri" pitchFamily="34" charset="-120"/>
                        </a:rPr>
                        <a:t>▲ +1 loan</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Wtd. Avg. LTV</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62.5%</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63.1%</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A6B3A"/>
                          </a:solidFill>
                          <a:latin typeface="Calibri" pitchFamily="34" charset="0"/>
                          <a:ea typeface="Calibri" pitchFamily="34" charset="-122"/>
                          <a:cs typeface="Calibri" pitchFamily="34" charset="-120"/>
                        </a:rPr>
                        <a:t>▼ 60 bps</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Wtd. Avg. DSCR</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1.35x</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1.33x</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1A6B3A"/>
                          </a:solidFill>
                          <a:latin typeface="Calibri" pitchFamily="34" charset="0"/>
                          <a:ea typeface="Calibri" pitchFamily="34" charset="-122"/>
                          <a:cs typeface="Calibri" pitchFamily="34" charset="-120"/>
                        </a:rPr>
                        <a:t>▲ 0.02x</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Wtd. Avg. Coupon</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8.8%</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8.8%</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A6B3A"/>
                          </a:solidFill>
                          <a:latin typeface="Calibri" pitchFamily="34" charset="0"/>
                          <a:ea typeface="Calibri" pitchFamily="34" charset="-122"/>
                          <a:cs typeface="Calibri" pitchFamily="34" charset="-120"/>
                        </a:rPr>
                        <a:t>▲ 10 bps</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Avg. Remaining Term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18 months</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19 months</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8899AA"/>
                          </a:solidFill>
                          <a:latin typeface="Calibri" pitchFamily="34" charset="0"/>
                          <a:ea typeface="Calibri" pitchFamily="34" charset="-122"/>
                          <a:cs typeface="Calibri" pitchFamily="34" charset="-120"/>
                        </a:rPr>
                        <a:t>▼ 1 month</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Portfolio Occupancy</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91.3%</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90.1%</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A6B3A"/>
                          </a:solidFill>
                          <a:latin typeface="Calibri" pitchFamily="34" charset="0"/>
                          <a:ea typeface="Calibri" pitchFamily="34" charset="-122"/>
                          <a:cs typeface="Calibri" pitchFamily="34" charset="-120"/>
                        </a:rPr>
                        <a:t>▲ 120 bps</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Performing Loans</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14 / 100%</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13 / 100%</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8899AA"/>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bl>
          </a:graphicData>
        </a:graphic>
      </p:graphicFrame>
      <p:sp>
        <p:nvSpPr>
          <p:cNvPr id="5" name="Text 2"/>
          <p:cNvSpPr/>
          <p:nvPr/>
        </p:nvSpPr>
        <p:spPr>
          <a:xfrm>
            <a:off x="6217920" y="914400"/>
            <a:ext cx="5669280" cy="32004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Property Type Mix</a:t>
            </a:r>
            <a:endParaRPr lang="en-US" sz="1100" dirty="0"/>
          </a:p>
        </p:txBody>
      </p:sp>
      <p:sp>
        <p:nvSpPr>
          <p:cNvPr id="6" name="Shape 3"/>
          <p:cNvSpPr/>
          <p:nvPr/>
        </p:nvSpPr>
        <p:spPr>
          <a:xfrm>
            <a:off x="6217920" y="1261872"/>
            <a:ext cx="5650992" cy="329184"/>
          </a:xfrm>
          <a:prstGeom prst="rect">
            <a:avLst/>
          </a:prstGeom>
          <a:solidFill>
            <a:srgbClr val="1B2A4A"/>
          </a:solidFill>
          <a:ln/>
        </p:spPr>
      </p:sp>
      <p:sp>
        <p:nvSpPr>
          <p:cNvPr id="7" name="Text 4"/>
          <p:cNvSpPr/>
          <p:nvPr/>
        </p:nvSpPr>
        <p:spPr>
          <a:xfrm>
            <a:off x="6309360" y="1298448"/>
            <a:ext cx="1828800" cy="256032"/>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Property Type</a:t>
            </a:r>
            <a:endParaRPr lang="en-US" sz="900" dirty="0"/>
          </a:p>
        </p:txBody>
      </p:sp>
      <p:sp>
        <p:nvSpPr>
          <p:cNvPr id="8" name="Text 5"/>
          <p:cNvSpPr/>
          <p:nvPr/>
        </p:nvSpPr>
        <p:spPr>
          <a:xfrm>
            <a:off x="8229600" y="1298448"/>
            <a:ext cx="137160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Allocation</a:t>
            </a:r>
            <a:endParaRPr lang="en-US" sz="900" dirty="0"/>
          </a:p>
        </p:txBody>
      </p:sp>
      <p:sp>
        <p:nvSpPr>
          <p:cNvPr id="9" name="Text 6"/>
          <p:cNvSpPr/>
          <p:nvPr/>
        </p:nvSpPr>
        <p:spPr>
          <a:xfrm>
            <a:off x="9692640" y="1298448"/>
            <a:ext cx="1188720" cy="256032"/>
          </a:xfrm>
          <a:prstGeom prst="rect">
            <a:avLst/>
          </a:prstGeom>
          <a:noFill/>
          <a:ln/>
        </p:spPr>
        <p:txBody>
          <a:bodyPr wrap="square"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Balance</a:t>
            </a:r>
            <a:endParaRPr lang="en-US" sz="900" dirty="0"/>
          </a:p>
        </p:txBody>
      </p:sp>
      <p:sp>
        <p:nvSpPr>
          <p:cNvPr id="10" name="Shape 7"/>
          <p:cNvSpPr/>
          <p:nvPr/>
        </p:nvSpPr>
        <p:spPr>
          <a:xfrm>
            <a:off x="6217920" y="1591056"/>
            <a:ext cx="5650992" cy="384048"/>
          </a:xfrm>
          <a:prstGeom prst="rect">
            <a:avLst/>
          </a:prstGeom>
          <a:solidFill>
            <a:srgbClr val="FFFFFF"/>
          </a:solidFill>
          <a:ln/>
        </p:spPr>
      </p:sp>
      <p:sp>
        <p:nvSpPr>
          <p:cNvPr id="11" name="Text 8"/>
          <p:cNvSpPr/>
          <p:nvPr/>
        </p:nvSpPr>
        <p:spPr>
          <a:xfrm>
            <a:off x="6309360" y="1645920"/>
            <a:ext cx="1737360" cy="274320"/>
          </a:xfrm>
          <a:prstGeom prst="rect">
            <a:avLst/>
          </a:prstGeom>
          <a:noFill/>
          <a:ln/>
        </p:spPr>
        <p:txBody>
          <a:bodyPr wrap="square" rtlCol="0" anchor="ctr"/>
          <a:lstStyle/>
          <a:p>
            <a:pPr indent="0" marL="0">
              <a:buNone/>
            </a:pPr>
            <a:r>
              <a:rPr lang="en-US" sz="900" dirty="0">
                <a:solidFill>
                  <a:srgbClr val="2C3E50"/>
                </a:solidFill>
                <a:latin typeface="Calibri Light" pitchFamily="34" charset="0"/>
                <a:ea typeface="Calibri Light" pitchFamily="34" charset="-122"/>
                <a:cs typeface="Calibri Light" pitchFamily="34" charset="-120"/>
              </a:rPr>
              <a:t>Multifamily</a:t>
            </a:r>
            <a:endParaRPr lang="en-US" sz="900" dirty="0"/>
          </a:p>
        </p:txBody>
      </p:sp>
      <p:sp>
        <p:nvSpPr>
          <p:cNvPr id="12" name="Shape 9"/>
          <p:cNvSpPr/>
          <p:nvPr/>
        </p:nvSpPr>
        <p:spPr>
          <a:xfrm>
            <a:off x="8092440" y="1682496"/>
            <a:ext cx="1645920" cy="201168"/>
          </a:xfrm>
          <a:prstGeom prst="roundRect">
            <a:avLst>
              <a:gd name="adj" fmla="val 9091"/>
            </a:avLst>
          </a:prstGeom>
          <a:solidFill>
            <a:srgbClr val="1B2A4A"/>
          </a:solidFill>
          <a:ln/>
        </p:spPr>
      </p:sp>
      <p:sp>
        <p:nvSpPr>
          <p:cNvPr id="13" name="Text 10"/>
          <p:cNvSpPr/>
          <p:nvPr/>
        </p:nvSpPr>
        <p:spPr>
          <a:xfrm>
            <a:off x="9811512" y="1645920"/>
            <a:ext cx="457200" cy="274320"/>
          </a:xfrm>
          <a:prstGeom prst="rect">
            <a:avLst/>
          </a:prstGeom>
          <a:noFill/>
          <a:ln/>
        </p:spPr>
        <p:txBody>
          <a:bodyPr wrap="square"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35%</a:t>
            </a:r>
            <a:endParaRPr lang="en-US" sz="900" dirty="0"/>
          </a:p>
        </p:txBody>
      </p:sp>
      <p:sp>
        <p:nvSpPr>
          <p:cNvPr id="14" name="Text 11"/>
          <p:cNvSpPr/>
          <p:nvPr/>
        </p:nvSpPr>
        <p:spPr>
          <a:xfrm>
            <a:off x="9692640" y="1645920"/>
            <a:ext cx="1188720" cy="274320"/>
          </a:xfrm>
          <a:prstGeom prst="rect">
            <a:avLst/>
          </a:prstGeom>
          <a:noFill/>
          <a:ln/>
        </p:spPr>
        <p:txBody>
          <a:bodyPr wrap="square" rtlCol="0" anchor="ct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$48.4M</a:t>
            </a:r>
            <a:endParaRPr lang="en-US" sz="900" dirty="0"/>
          </a:p>
        </p:txBody>
      </p:sp>
      <p:sp>
        <p:nvSpPr>
          <p:cNvPr id="15" name="Shape 12"/>
          <p:cNvSpPr/>
          <p:nvPr/>
        </p:nvSpPr>
        <p:spPr>
          <a:xfrm>
            <a:off x="6217920" y="1965960"/>
            <a:ext cx="5650992" cy="9144"/>
          </a:xfrm>
          <a:prstGeom prst="rect">
            <a:avLst/>
          </a:prstGeom>
          <a:solidFill>
            <a:srgbClr val="DDDDDD"/>
          </a:solidFill>
          <a:ln/>
        </p:spPr>
      </p:sp>
      <p:sp>
        <p:nvSpPr>
          <p:cNvPr id="16" name="Shape 13"/>
          <p:cNvSpPr/>
          <p:nvPr/>
        </p:nvSpPr>
        <p:spPr>
          <a:xfrm>
            <a:off x="6217920" y="1975104"/>
            <a:ext cx="5650992" cy="384048"/>
          </a:xfrm>
          <a:prstGeom prst="rect">
            <a:avLst/>
          </a:prstGeom>
          <a:solidFill>
            <a:srgbClr val="EEF2F7"/>
          </a:solidFill>
          <a:ln/>
        </p:spPr>
      </p:sp>
      <p:sp>
        <p:nvSpPr>
          <p:cNvPr id="17" name="Text 14"/>
          <p:cNvSpPr/>
          <p:nvPr/>
        </p:nvSpPr>
        <p:spPr>
          <a:xfrm>
            <a:off x="6309360" y="2029968"/>
            <a:ext cx="1737360" cy="274320"/>
          </a:xfrm>
          <a:prstGeom prst="rect">
            <a:avLst/>
          </a:prstGeom>
          <a:noFill/>
          <a:ln/>
        </p:spPr>
        <p:txBody>
          <a:bodyPr wrap="square" rtlCol="0" anchor="ctr"/>
          <a:lstStyle/>
          <a:p>
            <a:pPr indent="0" marL="0">
              <a:buNone/>
            </a:pPr>
            <a:r>
              <a:rPr lang="en-US" sz="900" dirty="0">
                <a:solidFill>
                  <a:srgbClr val="2C3E50"/>
                </a:solidFill>
                <a:latin typeface="Calibri Light" pitchFamily="34" charset="0"/>
                <a:ea typeface="Calibri Light" pitchFamily="34" charset="-122"/>
                <a:cs typeface="Calibri Light" pitchFamily="34" charset="-120"/>
              </a:rPr>
              <a:t>Industrial</a:t>
            </a:r>
            <a:endParaRPr lang="en-US" sz="900" dirty="0"/>
          </a:p>
        </p:txBody>
      </p:sp>
      <p:sp>
        <p:nvSpPr>
          <p:cNvPr id="18" name="Shape 15"/>
          <p:cNvSpPr/>
          <p:nvPr/>
        </p:nvSpPr>
        <p:spPr>
          <a:xfrm>
            <a:off x="8092440" y="2066544"/>
            <a:ext cx="1316736" cy="201168"/>
          </a:xfrm>
          <a:prstGeom prst="roundRect">
            <a:avLst>
              <a:gd name="adj" fmla="val 9091"/>
            </a:avLst>
          </a:prstGeom>
          <a:solidFill>
            <a:srgbClr val="C9A84C"/>
          </a:solidFill>
          <a:ln/>
        </p:spPr>
      </p:sp>
      <p:sp>
        <p:nvSpPr>
          <p:cNvPr id="19" name="Text 16"/>
          <p:cNvSpPr/>
          <p:nvPr/>
        </p:nvSpPr>
        <p:spPr>
          <a:xfrm>
            <a:off x="9482328" y="2029968"/>
            <a:ext cx="457200" cy="274320"/>
          </a:xfrm>
          <a:prstGeom prst="rect">
            <a:avLst/>
          </a:prstGeom>
          <a:noFill/>
          <a:ln/>
        </p:spPr>
        <p:txBody>
          <a:bodyPr wrap="square"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28%</a:t>
            </a:r>
            <a:endParaRPr lang="en-US" sz="900" dirty="0"/>
          </a:p>
        </p:txBody>
      </p:sp>
      <p:sp>
        <p:nvSpPr>
          <p:cNvPr id="20" name="Text 17"/>
          <p:cNvSpPr/>
          <p:nvPr/>
        </p:nvSpPr>
        <p:spPr>
          <a:xfrm>
            <a:off x="9692640" y="2029968"/>
            <a:ext cx="1188720" cy="274320"/>
          </a:xfrm>
          <a:prstGeom prst="rect">
            <a:avLst/>
          </a:prstGeom>
          <a:noFill/>
          <a:ln/>
        </p:spPr>
        <p:txBody>
          <a:bodyPr wrap="square" rtlCol="0" anchor="ct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$38.7M</a:t>
            </a:r>
            <a:endParaRPr lang="en-US" sz="900" dirty="0"/>
          </a:p>
        </p:txBody>
      </p:sp>
      <p:sp>
        <p:nvSpPr>
          <p:cNvPr id="21" name="Shape 18"/>
          <p:cNvSpPr/>
          <p:nvPr/>
        </p:nvSpPr>
        <p:spPr>
          <a:xfrm>
            <a:off x="6217920" y="2350008"/>
            <a:ext cx="5650992" cy="9144"/>
          </a:xfrm>
          <a:prstGeom prst="rect">
            <a:avLst/>
          </a:prstGeom>
          <a:solidFill>
            <a:srgbClr val="DDDDDD"/>
          </a:solidFill>
          <a:ln/>
        </p:spPr>
      </p:sp>
      <p:sp>
        <p:nvSpPr>
          <p:cNvPr id="22" name="Shape 19"/>
          <p:cNvSpPr/>
          <p:nvPr/>
        </p:nvSpPr>
        <p:spPr>
          <a:xfrm>
            <a:off x="6217920" y="2359152"/>
            <a:ext cx="5650992" cy="384048"/>
          </a:xfrm>
          <a:prstGeom prst="rect">
            <a:avLst/>
          </a:prstGeom>
          <a:solidFill>
            <a:srgbClr val="FFFFFF"/>
          </a:solidFill>
          <a:ln/>
        </p:spPr>
      </p:sp>
      <p:sp>
        <p:nvSpPr>
          <p:cNvPr id="23" name="Text 20"/>
          <p:cNvSpPr/>
          <p:nvPr/>
        </p:nvSpPr>
        <p:spPr>
          <a:xfrm>
            <a:off x="6309360" y="2414016"/>
            <a:ext cx="1737360" cy="274320"/>
          </a:xfrm>
          <a:prstGeom prst="rect">
            <a:avLst/>
          </a:prstGeom>
          <a:noFill/>
          <a:ln/>
        </p:spPr>
        <p:txBody>
          <a:bodyPr wrap="square" rtlCol="0" anchor="ctr"/>
          <a:lstStyle/>
          <a:p>
            <a:pPr indent="0" marL="0">
              <a:buNone/>
            </a:pPr>
            <a:r>
              <a:rPr lang="en-US" sz="900" dirty="0">
                <a:solidFill>
                  <a:srgbClr val="2C3E50"/>
                </a:solidFill>
                <a:latin typeface="Calibri Light" pitchFamily="34" charset="0"/>
                <a:ea typeface="Calibri Light" pitchFamily="34" charset="-122"/>
                <a:cs typeface="Calibri Light" pitchFamily="34" charset="-120"/>
              </a:rPr>
              <a:t>Mixed-Use</a:t>
            </a:r>
            <a:endParaRPr lang="en-US" sz="900" dirty="0"/>
          </a:p>
        </p:txBody>
      </p:sp>
      <p:sp>
        <p:nvSpPr>
          <p:cNvPr id="24" name="Shape 21"/>
          <p:cNvSpPr/>
          <p:nvPr/>
        </p:nvSpPr>
        <p:spPr>
          <a:xfrm>
            <a:off x="8092440" y="2450592"/>
            <a:ext cx="846473" cy="201168"/>
          </a:xfrm>
          <a:prstGeom prst="roundRect">
            <a:avLst>
              <a:gd name="adj" fmla="val 9091"/>
            </a:avLst>
          </a:prstGeom>
          <a:solidFill>
            <a:srgbClr val="3D6B9E"/>
          </a:solidFill>
          <a:ln/>
        </p:spPr>
      </p:sp>
      <p:sp>
        <p:nvSpPr>
          <p:cNvPr id="25" name="Text 22"/>
          <p:cNvSpPr/>
          <p:nvPr/>
        </p:nvSpPr>
        <p:spPr>
          <a:xfrm>
            <a:off x="9012065" y="2414016"/>
            <a:ext cx="457200" cy="274320"/>
          </a:xfrm>
          <a:prstGeom prst="rect">
            <a:avLst/>
          </a:prstGeom>
          <a:noFill/>
          <a:ln/>
        </p:spPr>
        <p:txBody>
          <a:bodyPr wrap="square"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18%</a:t>
            </a:r>
            <a:endParaRPr lang="en-US" sz="900" dirty="0"/>
          </a:p>
        </p:txBody>
      </p:sp>
      <p:sp>
        <p:nvSpPr>
          <p:cNvPr id="26" name="Text 23"/>
          <p:cNvSpPr/>
          <p:nvPr/>
        </p:nvSpPr>
        <p:spPr>
          <a:xfrm>
            <a:off x="9692640" y="2414016"/>
            <a:ext cx="1188720" cy="274320"/>
          </a:xfrm>
          <a:prstGeom prst="rect">
            <a:avLst/>
          </a:prstGeom>
          <a:noFill/>
          <a:ln/>
        </p:spPr>
        <p:txBody>
          <a:bodyPr wrap="square" rtlCol="0" anchor="ct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$24.9M</a:t>
            </a:r>
            <a:endParaRPr lang="en-US" sz="900" dirty="0"/>
          </a:p>
        </p:txBody>
      </p:sp>
      <p:sp>
        <p:nvSpPr>
          <p:cNvPr id="27" name="Shape 24"/>
          <p:cNvSpPr/>
          <p:nvPr/>
        </p:nvSpPr>
        <p:spPr>
          <a:xfrm>
            <a:off x="6217920" y="2734056"/>
            <a:ext cx="5650992" cy="9144"/>
          </a:xfrm>
          <a:prstGeom prst="rect">
            <a:avLst/>
          </a:prstGeom>
          <a:solidFill>
            <a:srgbClr val="DDDDDD"/>
          </a:solidFill>
          <a:ln/>
        </p:spPr>
      </p:sp>
      <p:sp>
        <p:nvSpPr>
          <p:cNvPr id="28" name="Shape 25"/>
          <p:cNvSpPr/>
          <p:nvPr/>
        </p:nvSpPr>
        <p:spPr>
          <a:xfrm>
            <a:off x="6217920" y="2743200"/>
            <a:ext cx="5650992" cy="384048"/>
          </a:xfrm>
          <a:prstGeom prst="rect">
            <a:avLst/>
          </a:prstGeom>
          <a:solidFill>
            <a:srgbClr val="EEF2F7"/>
          </a:solidFill>
          <a:ln/>
        </p:spPr>
      </p:sp>
      <p:sp>
        <p:nvSpPr>
          <p:cNvPr id="29" name="Text 26"/>
          <p:cNvSpPr/>
          <p:nvPr/>
        </p:nvSpPr>
        <p:spPr>
          <a:xfrm>
            <a:off x="6309360" y="2798064"/>
            <a:ext cx="1737360" cy="274320"/>
          </a:xfrm>
          <a:prstGeom prst="rect">
            <a:avLst/>
          </a:prstGeom>
          <a:noFill/>
          <a:ln/>
        </p:spPr>
        <p:txBody>
          <a:bodyPr wrap="square" rtlCol="0" anchor="ctr"/>
          <a:lstStyle/>
          <a:p>
            <a:pPr indent="0" marL="0">
              <a:buNone/>
            </a:pPr>
            <a:r>
              <a:rPr lang="en-US" sz="900" dirty="0">
                <a:solidFill>
                  <a:srgbClr val="2C3E50"/>
                </a:solidFill>
                <a:latin typeface="Calibri Light" pitchFamily="34" charset="0"/>
                <a:ea typeface="Calibri Light" pitchFamily="34" charset="-122"/>
                <a:cs typeface="Calibri Light" pitchFamily="34" charset="-120"/>
              </a:rPr>
              <a:t>Retail</a:t>
            </a:r>
            <a:endParaRPr lang="en-US" sz="900" dirty="0"/>
          </a:p>
        </p:txBody>
      </p:sp>
      <p:sp>
        <p:nvSpPr>
          <p:cNvPr id="30" name="Shape 27"/>
          <p:cNvSpPr/>
          <p:nvPr/>
        </p:nvSpPr>
        <p:spPr>
          <a:xfrm>
            <a:off x="8092440" y="2834640"/>
            <a:ext cx="564315" cy="201168"/>
          </a:xfrm>
          <a:prstGeom prst="roundRect">
            <a:avLst>
              <a:gd name="adj" fmla="val 9091"/>
            </a:avLst>
          </a:prstGeom>
          <a:solidFill>
            <a:srgbClr val="5A8FA8"/>
          </a:solidFill>
          <a:ln/>
        </p:spPr>
      </p:sp>
      <p:sp>
        <p:nvSpPr>
          <p:cNvPr id="31" name="Text 28"/>
          <p:cNvSpPr/>
          <p:nvPr/>
        </p:nvSpPr>
        <p:spPr>
          <a:xfrm>
            <a:off x="8729907" y="2798064"/>
            <a:ext cx="457200" cy="274320"/>
          </a:xfrm>
          <a:prstGeom prst="rect">
            <a:avLst/>
          </a:prstGeom>
          <a:noFill/>
          <a:ln/>
        </p:spPr>
        <p:txBody>
          <a:bodyPr wrap="square"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12%</a:t>
            </a:r>
            <a:endParaRPr lang="en-US" sz="900" dirty="0"/>
          </a:p>
        </p:txBody>
      </p:sp>
      <p:sp>
        <p:nvSpPr>
          <p:cNvPr id="32" name="Text 29"/>
          <p:cNvSpPr/>
          <p:nvPr/>
        </p:nvSpPr>
        <p:spPr>
          <a:xfrm>
            <a:off x="9692640" y="2798064"/>
            <a:ext cx="1188720" cy="274320"/>
          </a:xfrm>
          <a:prstGeom prst="rect">
            <a:avLst/>
          </a:prstGeom>
          <a:noFill/>
          <a:ln/>
        </p:spPr>
        <p:txBody>
          <a:bodyPr wrap="square" rtlCol="0" anchor="ct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$16.6M</a:t>
            </a:r>
            <a:endParaRPr lang="en-US" sz="900" dirty="0"/>
          </a:p>
        </p:txBody>
      </p:sp>
      <p:sp>
        <p:nvSpPr>
          <p:cNvPr id="33" name="Shape 30"/>
          <p:cNvSpPr/>
          <p:nvPr/>
        </p:nvSpPr>
        <p:spPr>
          <a:xfrm>
            <a:off x="6217920" y="3118104"/>
            <a:ext cx="5650992" cy="9144"/>
          </a:xfrm>
          <a:prstGeom prst="rect">
            <a:avLst/>
          </a:prstGeom>
          <a:solidFill>
            <a:srgbClr val="DDDDDD"/>
          </a:solidFill>
          <a:ln/>
        </p:spPr>
      </p:sp>
      <p:sp>
        <p:nvSpPr>
          <p:cNvPr id="34" name="Shape 31"/>
          <p:cNvSpPr/>
          <p:nvPr/>
        </p:nvSpPr>
        <p:spPr>
          <a:xfrm>
            <a:off x="6217920" y="3127248"/>
            <a:ext cx="5650992" cy="384048"/>
          </a:xfrm>
          <a:prstGeom prst="rect">
            <a:avLst/>
          </a:prstGeom>
          <a:solidFill>
            <a:srgbClr val="FFFFFF"/>
          </a:solidFill>
          <a:ln/>
        </p:spPr>
      </p:sp>
      <p:sp>
        <p:nvSpPr>
          <p:cNvPr id="35" name="Text 32"/>
          <p:cNvSpPr/>
          <p:nvPr/>
        </p:nvSpPr>
        <p:spPr>
          <a:xfrm>
            <a:off x="6309360" y="3182112"/>
            <a:ext cx="1737360" cy="274320"/>
          </a:xfrm>
          <a:prstGeom prst="rect">
            <a:avLst/>
          </a:prstGeom>
          <a:noFill/>
          <a:ln/>
        </p:spPr>
        <p:txBody>
          <a:bodyPr wrap="square" rtlCol="0" anchor="ctr"/>
          <a:lstStyle/>
          <a:p>
            <a:pPr indent="0" marL="0">
              <a:buNone/>
            </a:pPr>
            <a:r>
              <a:rPr lang="en-US" sz="900" dirty="0">
                <a:solidFill>
                  <a:srgbClr val="2C3E50"/>
                </a:solidFill>
                <a:latin typeface="Calibri Light" pitchFamily="34" charset="0"/>
                <a:ea typeface="Calibri Light" pitchFamily="34" charset="-122"/>
                <a:cs typeface="Calibri Light" pitchFamily="34" charset="-120"/>
              </a:rPr>
              <a:t>Office</a:t>
            </a:r>
            <a:endParaRPr lang="en-US" sz="900" dirty="0"/>
          </a:p>
        </p:txBody>
      </p:sp>
      <p:sp>
        <p:nvSpPr>
          <p:cNvPr id="36" name="Shape 33"/>
          <p:cNvSpPr/>
          <p:nvPr/>
        </p:nvSpPr>
        <p:spPr>
          <a:xfrm>
            <a:off x="8092440" y="3218688"/>
            <a:ext cx="329184" cy="201168"/>
          </a:xfrm>
          <a:prstGeom prst="roundRect">
            <a:avLst>
              <a:gd name="adj" fmla="val 9091"/>
            </a:avLst>
          </a:prstGeom>
          <a:solidFill>
            <a:srgbClr val="8BADBF"/>
          </a:solidFill>
          <a:ln/>
        </p:spPr>
      </p:sp>
      <p:sp>
        <p:nvSpPr>
          <p:cNvPr id="37" name="Text 34"/>
          <p:cNvSpPr/>
          <p:nvPr/>
        </p:nvSpPr>
        <p:spPr>
          <a:xfrm>
            <a:off x="8494776" y="3182112"/>
            <a:ext cx="457200" cy="274320"/>
          </a:xfrm>
          <a:prstGeom prst="rect">
            <a:avLst/>
          </a:prstGeom>
          <a:noFill/>
          <a:ln/>
        </p:spPr>
        <p:txBody>
          <a:bodyPr wrap="square"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7%</a:t>
            </a:r>
            <a:endParaRPr lang="en-US" sz="900" dirty="0"/>
          </a:p>
        </p:txBody>
      </p:sp>
      <p:sp>
        <p:nvSpPr>
          <p:cNvPr id="38" name="Text 35"/>
          <p:cNvSpPr/>
          <p:nvPr/>
        </p:nvSpPr>
        <p:spPr>
          <a:xfrm>
            <a:off x="9692640" y="3182112"/>
            <a:ext cx="1188720" cy="274320"/>
          </a:xfrm>
          <a:prstGeom prst="rect">
            <a:avLst/>
          </a:prstGeom>
          <a:noFill/>
          <a:ln/>
        </p:spPr>
        <p:txBody>
          <a:bodyPr wrap="square" rtlCol="0" anchor="ct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$9.7M</a:t>
            </a:r>
            <a:endParaRPr lang="en-US" sz="900" dirty="0"/>
          </a:p>
        </p:txBody>
      </p:sp>
      <p:sp>
        <p:nvSpPr>
          <p:cNvPr id="39" name="Shape 36"/>
          <p:cNvSpPr/>
          <p:nvPr/>
        </p:nvSpPr>
        <p:spPr>
          <a:xfrm>
            <a:off x="6217920" y="3502152"/>
            <a:ext cx="5650992" cy="9144"/>
          </a:xfrm>
          <a:prstGeom prst="rect">
            <a:avLst/>
          </a:prstGeom>
          <a:solidFill>
            <a:srgbClr val="DDDDDD"/>
          </a:solidFill>
          <a:ln/>
        </p:spPr>
      </p:sp>
      <p:sp>
        <p:nvSpPr>
          <p:cNvPr id="40" name="Text 37"/>
          <p:cNvSpPr/>
          <p:nvPr/>
        </p:nvSpPr>
        <p:spPr>
          <a:xfrm>
            <a:off x="320040" y="6565392"/>
            <a:ext cx="5029200" cy="182880"/>
          </a:xfrm>
          <a:prstGeom prst="rect">
            <a:avLst/>
          </a:prstGeom>
          <a:noFill/>
          <a:ln/>
        </p:spPr>
        <p:txBody>
          <a:bodyPr wrap="square" rtlCol="0" anchor="ctr"/>
          <a:lstStyle/>
          <a:p>
            <a:pPr indent="0" marL="0">
              <a:buNone/>
            </a:pPr>
            <a:r>
              <a:rPr lang="en-US" sz="700" dirty="0">
                <a:solidFill>
                  <a:srgbClr val="8899AA"/>
                </a:solidFill>
                <a:latin typeface="Calibri Light" pitchFamily="34" charset="0"/>
                <a:ea typeface="Calibri Light" pitchFamily="34" charset="-122"/>
                <a:cs typeface="Calibri Light" pitchFamily="34" charset="-120"/>
              </a:rPr>
              <a:t>CONFIDENTIAL — FOR LIMITED PARTNERS ONLY</a:t>
            </a:r>
            <a:endParaRPr lang="en-US" sz="700" dirty="0"/>
          </a:p>
        </p:txBody>
      </p:sp>
      <p:sp>
        <p:nvSpPr>
          <p:cNvPr id="41" name="Text 38"/>
          <p:cNvSpPr/>
          <p:nvPr/>
        </p:nvSpPr>
        <p:spPr>
          <a:xfrm>
            <a:off x="5760720" y="6565392"/>
            <a:ext cx="731520" cy="182880"/>
          </a:xfrm>
          <a:prstGeom prst="rect">
            <a:avLst/>
          </a:prstGeom>
          <a:noFill/>
          <a:ln/>
        </p:spPr>
        <p:txBody>
          <a:bodyPr wrap="square" rtlCol="0" anchor="ctr"/>
          <a:lstStyle/>
          <a:p>
            <a:pPr algn="ctr" indent="0" marL="0">
              <a:buNone/>
            </a:pPr>
            <a:r>
              <a:rPr lang="en-US" sz="700" dirty="0">
                <a:solidFill>
                  <a:srgbClr val="8899AA"/>
                </a:solidFill>
                <a:latin typeface="Calibri Light" pitchFamily="34" charset="0"/>
                <a:ea typeface="Calibri Light" pitchFamily="34" charset="-122"/>
                <a:cs typeface="Calibri Light" pitchFamily="34" charset="-120"/>
              </a:rPr>
              <a:t>4 of 9</a:t>
            </a:r>
            <a:endParaRPr lang="en-US" sz="700" dirty="0"/>
          </a:p>
        </p:txBody>
      </p:sp>
      <p:sp>
        <p:nvSpPr>
          <p:cNvPr id="42" name="Text 39"/>
          <p:cNvSpPr/>
          <p:nvPr/>
        </p:nvSpPr>
        <p:spPr>
          <a:xfrm>
            <a:off x="8229600" y="6565392"/>
            <a:ext cx="3749040" cy="182880"/>
          </a:xfrm>
          <a:prstGeom prst="rect">
            <a:avLst/>
          </a:prstGeom>
          <a:noFill/>
          <a:ln/>
        </p:spPr>
        <p:txBody>
          <a:bodyPr wrap="square" rtlCol="0" anchor="ctr"/>
          <a:lstStyle/>
          <a:p>
            <a:pPr algn="r" indent="0" marL="0">
              <a:buNone/>
            </a:pPr>
            <a:r>
              <a:rPr lang="en-US" sz="700" dirty="0">
                <a:solidFill>
                  <a:srgbClr val="8899AA"/>
                </a:solidFill>
                <a:latin typeface="Calibri Light" pitchFamily="34" charset="0"/>
                <a:ea typeface="Calibri Light" pitchFamily="34" charset="-122"/>
                <a:cs typeface="Calibri Light" pitchFamily="34" charset="-120"/>
              </a:rPr>
              <a:t>Cana Capital Fund I  |  April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943600" cy="6858000"/>
          </a:xfrm>
          <a:prstGeom prst="rect">
            <a:avLst/>
          </a:prstGeom>
          <a:solidFill>
            <a:srgbClr val="1B2A4A"/>
          </a:solidFill>
          <a:ln/>
        </p:spPr>
      </p:sp>
      <p:sp>
        <p:nvSpPr>
          <p:cNvPr id="3" name="Shape 1"/>
          <p:cNvSpPr/>
          <p:nvPr/>
        </p:nvSpPr>
        <p:spPr>
          <a:xfrm>
            <a:off x="5943600" y="0"/>
            <a:ext cx="6245352" cy="6858000"/>
          </a:xfrm>
          <a:prstGeom prst="rect">
            <a:avLst/>
          </a:prstGeom>
          <a:solidFill>
            <a:srgbClr val="FFFFFF"/>
          </a:solidFill>
          <a:ln/>
        </p:spPr>
      </p:sp>
      <p:sp>
        <p:nvSpPr>
          <p:cNvPr id="4" name="Text 2"/>
          <p:cNvSpPr/>
          <p:nvPr/>
        </p:nvSpPr>
        <p:spPr>
          <a:xfrm>
            <a:off x="320040" y="182880"/>
            <a:ext cx="5486400" cy="54864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Distributions &amp; Returns</a:t>
            </a:r>
            <a:endParaRPr lang="en-US" sz="2200" dirty="0"/>
          </a:p>
        </p:txBody>
      </p:sp>
      <p:sp>
        <p:nvSpPr>
          <p:cNvPr id="5" name="Shape 3"/>
          <p:cNvSpPr/>
          <p:nvPr/>
        </p:nvSpPr>
        <p:spPr>
          <a:xfrm>
            <a:off x="320040" y="749808"/>
            <a:ext cx="5303520" cy="20117"/>
          </a:xfrm>
          <a:prstGeom prst="rect">
            <a:avLst/>
          </a:prstGeom>
          <a:solidFill>
            <a:srgbClr val="C9A84C"/>
          </a:solidFill>
          <a:ln/>
        </p:spPr>
      </p:sp>
      <p:sp>
        <p:nvSpPr>
          <p:cNvPr id="6" name="Text 4"/>
          <p:cNvSpPr/>
          <p:nvPr/>
        </p:nvSpPr>
        <p:spPr>
          <a:xfrm>
            <a:off x="365760" y="1005840"/>
            <a:ext cx="5303520" cy="685800"/>
          </a:xfrm>
          <a:prstGeom prst="rect">
            <a:avLst/>
          </a:prstGeom>
          <a:noFill/>
          <a:ln/>
        </p:spPr>
        <p:txBody>
          <a:bodyPr wrap="square" rtlCol="0" anchor="ctr"/>
          <a:lstStyle/>
          <a:p>
            <a:pPr algn="ctr" indent="0" marL="0">
              <a:buNone/>
            </a:pPr>
            <a:r>
              <a:rPr lang="en-US" sz="3000" b="1" dirty="0">
                <a:solidFill>
                  <a:srgbClr val="C9A84C"/>
                </a:solidFill>
                <a:latin typeface="Calibri" pitchFamily="34" charset="0"/>
                <a:ea typeface="Calibri" pitchFamily="34" charset="-122"/>
                <a:cs typeface="Calibri" pitchFamily="34" charset="-120"/>
              </a:rPr>
              <a:t>$0.095</a:t>
            </a:r>
            <a:endParaRPr lang="en-US" sz="3000" dirty="0"/>
          </a:p>
        </p:txBody>
      </p:sp>
      <p:sp>
        <p:nvSpPr>
          <p:cNvPr id="7" name="Text 5"/>
          <p:cNvSpPr/>
          <p:nvPr/>
        </p:nvSpPr>
        <p:spPr>
          <a:xfrm>
            <a:off x="365760" y="1673352"/>
            <a:ext cx="5303520" cy="256032"/>
          </a:xfrm>
          <a:prstGeom prst="rect">
            <a:avLst/>
          </a:prstGeom>
          <a:noFill/>
          <a:ln/>
        </p:spPr>
        <p:txBody>
          <a:bodyPr wrap="square" rtlCol="0" anchor="ctr"/>
          <a:lstStyle/>
          <a:p>
            <a:pPr algn="ctr" indent="0" marL="0">
              <a:buNone/>
            </a:pPr>
            <a:r>
              <a:rPr lang="en-US" sz="950" dirty="0">
                <a:solidFill>
                  <a:srgbClr val="AABDD0"/>
                </a:solidFill>
                <a:latin typeface="Calibri Light" pitchFamily="34" charset="0"/>
                <a:ea typeface="Calibri Light" pitchFamily="34" charset="-122"/>
                <a:cs typeface="Calibri Light" pitchFamily="34" charset="-120"/>
              </a:rPr>
              <a:t>Monthly Distribution / Unit</a:t>
            </a:r>
            <a:endParaRPr lang="en-US" sz="950" dirty="0"/>
          </a:p>
        </p:txBody>
      </p:sp>
      <p:sp>
        <p:nvSpPr>
          <p:cNvPr id="8" name="Text 6"/>
          <p:cNvSpPr/>
          <p:nvPr/>
        </p:nvSpPr>
        <p:spPr>
          <a:xfrm>
            <a:off x="365760" y="1920240"/>
            <a:ext cx="5303520" cy="228600"/>
          </a:xfrm>
          <a:prstGeom prst="rect">
            <a:avLst/>
          </a:prstGeom>
          <a:noFill/>
          <a:ln/>
        </p:spPr>
        <p:txBody>
          <a:bodyPr wrap="square" rtlCol="0" anchor="ctr"/>
          <a:lstStyle/>
          <a:p>
            <a:pPr algn="ctr" indent="0" marL="0">
              <a:buNone/>
            </a:pPr>
            <a:r>
              <a:rPr lang="en-US" sz="800" b="1" dirty="0">
                <a:solidFill>
                  <a:srgbClr val="1A6B3A"/>
                </a:solidFill>
                <a:latin typeface="Calibri" pitchFamily="34" charset="0"/>
                <a:ea typeface="Calibri" pitchFamily="34" charset="-122"/>
                <a:cs typeface="Calibri" pitchFamily="34" charset="-120"/>
              </a:rPr>
              <a:t>▲ 0 ¢ vs. prior</a:t>
            </a:r>
            <a:endParaRPr lang="en-US" sz="800" dirty="0"/>
          </a:p>
        </p:txBody>
      </p:sp>
      <p:sp>
        <p:nvSpPr>
          <p:cNvPr id="9" name="Shape 7"/>
          <p:cNvSpPr/>
          <p:nvPr/>
        </p:nvSpPr>
        <p:spPr>
          <a:xfrm>
            <a:off x="457200" y="2148840"/>
            <a:ext cx="5120640" cy="10973"/>
          </a:xfrm>
          <a:prstGeom prst="rect">
            <a:avLst/>
          </a:prstGeom>
          <a:solidFill>
            <a:srgbClr val="243454"/>
          </a:solidFill>
          <a:ln/>
        </p:spPr>
      </p:sp>
      <p:sp>
        <p:nvSpPr>
          <p:cNvPr id="10" name="Text 8"/>
          <p:cNvSpPr/>
          <p:nvPr/>
        </p:nvSpPr>
        <p:spPr>
          <a:xfrm>
            <a:off x="365760" y="2331720"/>
            <a:ext cx="5303520" cy="685800"/>
          </a:xfrm>
          <a:prstGeom prst="rect">
            <a:avLst/>
          </a:prstGeom>
          <a:noFill/>
          <a:ln/>
        </p:spPr>
        <p:txBody>
          <a:bodyPr wrap="square" rtlCol="0" anchor="ctr"/>
          <a:lstStyle/>
          <a:p>
            <a:pPr algn="ctr" indent="0" marL="0">
              <a:buNone/>
            </a:pPr>
            <a:r>
              <a:rPr lang="en-US" sz="3000" b="1" dirty="0">
                <a:solidFill>
                  <a:srgbClr val="C9A84C"/>
                </a:solidFill>
                <a:latin typeface="Calibri" pitchFamily="34" charset="0"/>
                <a:ea typeface="Calibri" pitchFamily="34" charset="-122"/>
                <a:cs typeface="Calibri" pitchFamily="34" charset="-120"/>
              </a:rPr>
              <a:t>8.2%</a:t>
            </a:r>
            <a:endParaRPr lang="en-US" sz="3000" dirty="0"/>
          </a:p>
        </p:txBody>
      </p:sp>
      <p:sp>
        <p:nvSpPr>
          <p:cNvPr id="11" name="Text 9"/>
          <p:cNvSpPr/>
          <p:nvPr/>
        </p:nvSpPr>
        <p:spPr>
          <a:xfrm>
            <a:off x="365760" y="2999232"/>
            <a:ext cx="5303520" cy="256032"/>
          </a:xfrm>
          <a:prstGeom prst="rect">
            <a:avLst/>
          </a:prstGeom>
          <a:noFill/>
          <a:ln/>
        </p:spPr>
        <p:txBody>
          <a:bodyPr wrap="square" rtlCol="0" anchor="ctr"/>
          <a:lstStyle/>
          <a:p>
            <a:pPr algn="ctr" indent="0" marL="0">
              <a:buNone/>
            </a:pPr>
            <a:r>
              <a:rPr lang="en-US" sz="950" dirty="0">
                <a:solidFill>
                  <a:srgbClr val="AABDD0"/>
                </a:solidFill>
                <a:latin typeface="Calibri Light" pitchFamily="34" charset="0"/>
                <a:ea typeface="Calibri Light" pitchFamily="34" charset="-122"/>
                <a:cs typeface="Calibri Light" pitchFamily="34" charset="-120"/>
              </a:rPr>
              <a:t>Annualized Distribution Yield</a:t>
            </a:r>
            <a:endParaRPr lang="en-US" sz="950" dirty="0"/>
          </a:p>
        </p:txBody>
      </p:sp>
      <p:sp>
        <p:nvSpPr>
          <p:cNvPr id="12" name="Text 10"/>
          <p:cNvSpPr/>
          <p:nvPr/>
        </p:nvSpPr>
        <p:spPr>
          <a:xfrm>
            <a:off x="365760" y="3246120"/>
            <a:ext cx="5303520" cy="228600"/>
          </a:xfrm>
          <a:prstGeom prst="rect">
            <a:avLst/>
          </a:prstGeom>
          <a:noFill/>
          <a:ln/>
        </p:spPr>
        <p:txBody>
          <a:bodyPr wrap="square" rtlCol="0" anchor="ctr"/>
          <a:lstStyle/>
          <a:p>
            <a:pPr algn="ctr" indent="0" marL="0">
              <a:buNone/>
            </a:pPr>
            <a:r>
              <a:rPr lang="en-US" sz="800" b="1" dirty="0">
                <a:solidFill>
                  <a:srgbClr val="1A6B3A"/>
                </a:solidFill>
                <a:latin typeface="Calibri" pitchFamily="34" charset="0"/>
                <a:ea typeface="Calibri" pitchFamily="34" charset="-122"/>
                <a:cs typeface="Calibri" pitchFamily="34" charset="-120"/>
              </a:rPr>
              <a:t>▲ 20 bps</a:t>
            </a:r>
            <a:endParaRPr lang="en-US" sz="800" dirty="0"/>
          </a:p>
        </p:txBody>
      </p:sp>
      <p:sp>
        <p:nvSpPr>
          <p:cNvPr id="13" name="Shape 11"/>
          <p:cNvSpPr/>
          <p:nvPr/>
        </p:nvSpPr>
        <p:spPr>
          <a:xfrm>
            <a:off x="457200" y="3474720"/>
            <a:ext cx="5120640" cy="10973"/>
          </a:xfrm>
          <a:prstGeom prst="rect">
            <a:avLst/>
          </a:prstGeom>
          <a:solidFill>
            <a:srgbClr val="243454"/>
          </a:solidFill>
          <a:ln/>
        </p:spPr>
      </p:sp>
      <p:sp>
        <p:nvSpPr>
          <p:cNvPr id="14" name="Text 12"/>
          <p:cNvSpPr/>
          <p:nvPr/>
        </p:nvSpPr>
        <p:spPr>
          <a:xfrm>
            <a:off x="365760" y="3657600"/>
            <a:ext cx="5303520" cy="685800"/>
          </a:xfrm>
          <a:prstGeom prst="rect">
            <a:avLst/>
          </a:prstGeom>
          <a:noFill/>
          <a:ln/>
        </p:spPr>
        <p:txBody>
          <a:bodyPr wrap="square" rtlCol="0" anchor="ctr"/>
          <a:lstStyle/>
          <a:p>
            <a:pPr algn="ctr" indent="0" marL="0">
              <a:buNone/>
            </a:pPr>
            <a:r>
              <a:rPr lang="en-US" sz="3000" b="1" dirty="0">
                <a:solidFill>
                  <a:srgbClr val="C9A84C"/>
                </a:solidFill>
                <a:latin typeface="Calibri" pitchFamily="34" charset="0"/>
                <a:ea typeface="Calibri" pitchFamily="34" charset="-122"/>
                <a:cs typeface="Calibri" pitchFamily="34" charset="-120"/>
              </a:rPr>
              <a:t>7.5% p.a.</a:t>
            </a:r>
            <a:endParaRPr lang="en-US" sz="3000" dirty="0"/>
          </a:p>
        </p:txBody>
      </p:sp>
      <p:sp>
        <p:nvSpPr>
          <p:cNvPr id="15" name="Text 13"/>
          <p:cNvSpPr/>
          <p:nvPr/>
        </p:nvSpPr>
        <p:spPr>
          <a:xfrm>
            <a:off x="365760" y="4325112"/>
            <a:ext cx="5303520" cy="256032"/>
          </a:xfrm>
          <a:prstGeom prst="rect">
            <a:avLst/>
          </a:prstGeom>
          <a:noFill/>
          <a:ln/>
        </p:spPr>
        <p:txBody>
          <a:bodyPr wrap="square" rtlCol="0" anchor="ctr"/>
          <a:lstStyle/>
          <a:p>
            <a:pPr algn="ctr" indent="0" marL="0">
              <a:buNone/>
            </a:pPr>
            <a:r>
              <a:rPr lang="en-US" sz="950" dirty="0">
                <a:solidFill>
                  <a:srgbClr val="AABDD0"/>
                </a:solidFill>
                <a:latin typeface="Calibri Light" pitchFamily="34" charset="0"/>
                <a:ea typeface="Calibri Light" pitchFamily="34" charset="-122"/>
                <a:cs typeface="Calibri Light" pitchFamily="34" charset="-120"/>
              </a:rPr>
              <a:t>Preferred Return — CURRENT ✓</a:t>
            </a:r>
            <a:endParaRPr lang="en-US" sz="950" dirty="0"/>
          </a:p>
        </p:txBody>
      </p:sp>
      <p:sp>
        <p:nvSpPr>
          <p:cNvPr id="16" name="Text 14"/>
          <p:cNvSpPr/>
          <p:nvPr/>
        </p:nvSpPr>
        <p:spPr>
          <a:xfrm>
            <a:off x="365760" y="4572000"/>
            <a:ext cx="5303520" cy="228600"/>
          </a:xfrm>
          <a:prstGeom prst="rect">
            <a:avLst/>
          </a:prstGeom>
          <a:noFill/>
          <a:ln/>
        </p:spPr>
        <p:txBody>
          <a:bodyPr wrap="square" rtlCol="0" anchor="ctr"/>
          <a:lstStyle/>
          <a:p>
            <a:pPr algn="ctr" indent="0" marL="0">
              <a:buNone/>
            </a:pPr>
            <a:r>
              <a:rPr lang="en-US" sz="800" b="1" dirty="0">
                <a:solidFill>
                  <a:srgbClr val="1A6B3A"/>
                </a:solidFill>
                <a:latin typeface="Calibri" pitchFamily="34" charset="0"/>
                <a:ea typeface="Calibri" pitchFamily="34" charset="-122"/>
                <a:cs typeface="Calibri" pitchFamily="34" charset="-120"/>
              </a:rPr>
              <a:t>In current status — no accrued shortfall</a:t>
            </a:r>
            <a:endParaRPr lang="en-US" sz="800" dirty="0"/>
          </a:p>
        </p:txBody>
      </p:sp>
      <p:sp>
        <p:nvSpPr>
          <p:cNvPr id="17" name="Shape 15"/>
          <p:cNvSpPr/>
          <p:nvPr/>
        </p:nvSpPr>
        <p:spPr>
          <a:xfrm>
            <a:off x="457200" y="4800600"/>
            <a:ext cx="5120640" cy="10973"/>
          </a:xfrm>
          <a:prstGeom prst="rect">
            <a:avLst/>
          </a:prstGeom>
          <a:solidFill>
            <a:srgbClr val="243454"/>
          </a:solidFill>
          <a:ln/>
        </p:spPr>
      </p:sp>
      <p:sp>
        <p:nvSpPr>
          <p:cNvPr id="18" name="Text 16"/>
          <p:cNvSpPr/>
          <p:nvPr/>
        </p:nvSpPr>
        <p:spPr>
          <a:xfrm>
            <a:off x="365760" y="4983480"/>
            <a:ext cx="5303520" cy="685800"/>
          </a:xfrm>
          <a:prstGeom prst="rect">
            <a:avLst/>
          </a:prstGeom>
          <a:noFill/>
          <a:ln/>
        </p:spPr>
        <p:txBody>
          <a:bodyPr wrap="square" rtlCol="0" anchor="ctr"/>
          <a:lstStyle/>
          <a:p>
            <a:pPr algn="ctr" indent="0" marL="0">
              <a:buNone/>
            </a:pPr>
            <a:r>
              <a:rPr lang="en-US" sz="3000" b="1" dirty="0">
                <a:solidFill>
                  <a:srgbClr val="C9A84C"/>
                </a:solidFill>
                <a:latin typeface="Calibri" pitchFamily="34" charset="0"/>
                <a:ea typeface="Calibri" pitchFamily="34" charset="-122"/>
                <a:cs typeface="Calibri" pitchFamily="34" charset="-120"/>
              </a:rPr>
              <a:t>$6.8M</a:t>
            </a:r>
            <a:endParaRPr lang="en-US" sz="3000" dirty="0"/>
          </a:p>
        </p:txBody>
      </p:sp>
      <p:sp>
        <p:nvSpPr>
          <p:cNvPr id="19" name="Text 17"/>
          <p:cNvSpPr/>
          <p:nvPr/>
        </p:nvSpPr>
        <p:spPr>
          <a:xfrm>
            <a:off x="365760" y="5650992"/>
            <a:ext cx="5303520" cy="256032"/>
          </a:xfrm>
          <a:prstGeom prst="rect">
            <a:avLst/>
          </a:prstGeom>
          <a:noFill/>
          <a:ln/>
        </p:spPr>
        <p:txBody>
          <a:bodyPr wrap="square" rtlCol="0" anchor="ctr"/>
          <a:lstStyle/>
          <a:p>
            <a:pPr algn="ctr" indent="0" marL="0">
              <a:buNone/>
            </a:pPr>
            <a:r>
              <a:rPr lang="en-US" sz="950" dirty="0">
                <a:solidFill>
                  <a:srgbClr val="AABDD0"/>
                </a:solidFill>
                <a:latin typeface="Calibri Light" pitchFamily="34" charset="0"/>
                <a:ea typeface="Calibri Light" pitchFamily="34" charset="-122"/>
                <a:cs typeface="Calibri Light" pitchFamily="34" charset="-120"/>
              </a:rPr>
              <a:t>Cumulative Distributions Paid</a:t>
            </a:r>
            <a:endParaRPr lang="en-US" sz="950" dirty="0"/>
          </a:p>
        </p:txBody>
      </p:sp>
      <p:sp>
        <p:nvSpPr>
          <p:cNvPr id="20" name="Text 18"/>
          <p:cNvSpPr/>
          <p:nvPr/>
        </p:nvSpPr>
        <p:spPr>
          <a:xfrm>
            <a:off x="365760" y="5897880"/>
            <a:ext cx="5303520" cy="228600"/>
          </a:xfrm>
          <a:prstGeom prst="rect">
            <a:avLst/>
          </a:prstGeom>
          <a:noFill/>
          <a:ln/>
        </p:spPr>
        <p:txBody>
          <a:bodyPr wrap="square" rtlCol="0" anchor="ctr"/>
          <a:lstStyle/>
          <a:p>
            <a:pPr algn="ctr" indent="0" marL="0">
              <a:buNone/>
            </a:pPr>
            <a:r>
              <a:rPr lang="en-US" sz="800" b="1" dirty="0">
                <a:solidFill>
                  <a:srgbClr val="8899AA"/>
                </a:solidFill>
                <a:latin typeface="Calibri" pitchFamily="34" charset="0"/>
                <a:ea typeface="Calibri" pitchFamily="34" charset="-122"/>
                <a:cs typeface="Calibri" pitchFamily="34" charset="-120"/>
              </a:rPr>
              <a:t>Since fund inception (2023)</a:t>
            </a:r>
            <a:endParaRPr lang="en-US" sz="800" dirty="0"/>
          </a:p>
        </p:txBody>
      </p:sp>
      <p:sp>
        <p:nvSpPr>
          <p:cNvPr id="21" name="Text 19"/>
          <p:cNvSpPr/>
          <p:nvPr/>
        </p:nvSpPr>
        <p:spPr>
          <a:xfrm>
            <a:off x="6217920" y="822960"/>
            <a:ext cx="5669280" cy="32004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Returns Summary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17920" y="1170432"/>
          <a:ext cx="5577840" cy="914400"/>
        </p:xfrm>
        <a:graphic>
          <a:graphicData uri="http://schemas.openxmlformats.org/drawingml/2006/table">
            <a:tbl>
              <a:tblPr/>
              <a:tblGrid>
                <a:gridCol w="3291840"/>
                <a:gridCol w="1097280"/>
                <a:gridCol w="1097280"/>
              </a:tblGrid>
              <a:tr h="34747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Return Metric</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Net</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Gross</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Net IRR (Since Inception)</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9.1%</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10.8%</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MOIC (Net)</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1.08x</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N/A</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TVPI (Net)</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1.08x</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N/A</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47472">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Preferred Hurdle Rate</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7.50%</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8899AA"/>
                          </a:solidFill>
                          <a:latin typeface="Calibri Light" pitchFamily="34" charset="0"/>
                          <a:ea typeface="Calibri Light" pitchFamily="34" charset="-122"/>
                          <a:cs typeface="Calibri Light" pitchFamily="34" charset="-120"/>
                        </a:rPr>
                        <a:t>—</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bl>
          </a:graphicData>
        </a:graphic>
      </p:graphicFrame>
      <p:sp>
        <p:nvSpPr>
          <p:cNvPr id="23" name="Text 20"/>
          <p:cNvSpPr/>
          <p:nvPr/>
        </p:nvSpPr>
        <p:spPr>
          <a:xfrm>
            <a:off x="6217920" y="3200400"/>
            <a:ext cx="5577840" cy="32004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Distribution History</a:t>
            </a:r>
            <a:endParaRPr lang="en-US" sz="11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17920" y="3547872"/>
          <a:ext cx="5577840" cy="914400"/>
        </p:xfrm>
        <a:graphic>
          <a:graphicData uri="http://schemas.openxmlformats.org/drawingml/2006/table">
            <a:tbl>
              <a:tblPr/>
              <a:tblGrid>
                <a:gridCol w="2743200"/>
                <a:gridCol w="1371600"/>
                <a:gridCol w="1371600"/>
              </a:tblGrid>
              <a:tr h="32918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Period</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$/Unit</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Ann. Yield</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Nov 2025</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$0.088</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7.8%</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Dec 2025</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$0.090</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7.9%</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Jan 2026</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$0.091</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8.0%</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Feb 2026</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$0.092</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8.1%</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Mar 2026</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$0.093</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2C3E50"/>
                          </a:solidFill>
                          <a:latin typeface="Calibri Light" pitchFamily="34" charset="0"/>
                          <a:ea typeface="Calibri Light" pitchFamily="34" charset="-122"/>
                          <a:cs typeface="Calibri Light" pitchFamily="34" charset="-120"/>
                        </a:rPr>
                        <a:t>8.0%</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B2A4A"/>
                          </a:solidFill>
                          <a:latin typeface="Calibri" pitchFamily="34" charset="0"/>
                          <a:ea typeface="Calibri" pitchFamily="34" charset="-122"/>
                          <a:cs typeface="Calibri" pitchFamily="34" charset="-120"/>
                        </a:rPr>
                        <a:t>Apr 2026</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$0.095</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8.2%</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bl>
          </a:graphicData>
        </a:graphic>
      </p:graphicFrame>
      <p:sp>
        <p:nvSpPr>
          <p:cNvPr id="25" name="Text 21"/>
          <p:cNvSpPr/>
          <p:nvPr/>
        </p:nvSpPr>
        <p:spPr>
          <a:xfrm>
            <a:off x="320040" y="6565392"/>
            <a:ext cx="5029200" cy="182880"/>
          </a:xfrm>
          <a:prstGeom prst="rect">
            <a:avLst/>
          </a:prstGeom>
          <a:noFill/>
          <a:ln/>
        </p:spPr>
        <p:txBody>
          <a:bodyPr wrap="square" rtlCol="0" anchor="ctr"/>
          <a:lstStyle/>
          <a:p>
            <a:pPr indent="0" marL="0">
              <a:buNone/>
            </a:pPr>
            <a:r>
              <a:rPr lang="en-US" sz="700" dirty="0">
                <a:solidFill>
                  <a:srgbClr val="8899AA"/>
                </a:solidFill>
                <a:latin typeface="Calibri Light" pitchFamily="34" charset="0"/>
                <a:ea typeface="Calibri Light" pitchFamily="34" charset="-122"/>
                <a:cs typeface="Calibri Light" pitchFamily="34" charset="-120"/>
              </a:rPr>
              <a:t>CONFIDENTIAL — FOR LIMITED PARTNERS ONLY</a:t>
            </a:r>
            <a:endParaRPr lang="en-US" sz="700" dirty="0"/>
          </a:p>
        </p:txBody>
      </p:sp>
      <p:sp>
        <p:nvSpPr>
          <p:cNvPr id="26" name="Text 22"/>
          <p:cNvSpPr/>
          <p:nvPr/>
        </p:nvSpPr>
        <p:spPr>
          <a:xfrm>
            <a:off x="5760720" y="6565392"/>
            <a:ext cx="731520" cy="182880"/>
          </a:xfrm>
          <a:prstGeom prst="rect">
            <a:avLst/>
          </a:prstGeom>
          <a:noFill/>
          <a:ln/>
        </p:spPr>
        <p:txBody>
          <a:bodyPr wrap="square" rtlCol="0" anchor="ctr"/>
          <a:lstStyle/>
          <a:p>
            <a:pPr algn="ctr" indent="0" marL="0">
              <a:buNone/>
            </a:pPr>
            <a:r>
              <a:rPr lang="en-US" sz="700" dirty="0">
                <a:solidFill>
                  <a:srgbClr val="8899AA"/>
                </a:solidFill>
                <a:latin typeface="Calibri Light" pitchFamily="34" charset="0"/>
                <a:ea typeface="Calibri Light" pitchFamily="34" charset="-122"/>
                <a:cs typeface="Calibri Light" pitchFamily="34" charset="-120"/>
              </a:rPr>
              <a:t>5 of 9</a:t>
            </a:r>
            <a:endParaRPr lang="en-US" sz="700" dirty="0"/>
          </a:p>
        </p:txBody>
      </p:sp>
      <p:sp>
        <p:nvSpPr>
          <p:cNvPr id="27" name="Text 23"/>
          <p:cNvSpPr/>
          <p:nvPr/>
        </p:nvSpPr>
        <p:spPr>
          <a:xfrm>
            <a:off x="8229600" y="6565392"/>
            <a:ext cx="3749040" cy="182880"/>
          </a:xfrm>
          <a:prstGeom prst="rect">
            <a:avLst/>
          </a:prstGeom>
          <a:noFill/>
          <a:ln/>
        </p:spPr>
        <p:txBody>
          <a:bodyPr wrap="square" rtlCol="0" anchor="ctr"/>
          <a:lstStyle/>
          <a:p>
            <a:pPr algn="r" indent="0" marL="0">
              <a:buNone/>
            </a:pPr>
            <a:r>
              <a:rPr lang="en-US" sz="700" dirty="0">
                <a:solidFill>
                  <a:srgbClr val="8899AA"/>
                </a:solidFill>
                <a:latin typeface="Calibri Light" pitchFamily="34" charset="0"/>
                <a:ea typeface="Calibri Light" pitchFamily="34" charset="-122"/>
                <a:cs typeface="Calibri Light" pitchFamily="34" charset="-120"/>
              </a:rPr>
              <a:t>Cana Capital Fund I  |  April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82880"/>
            <a:ext cx="11430000" cy="54864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Deal Activity — April 2026</a:t>
            </a:r>
            <a:endParaRPr lang="en-US" sz="2600" dirty="0"/>
          </a:p>
        </p:txBody>
      </p:sp>
      <p:sp>
        <p:nvSpPr>
          <p:cNvPr id="3" name="Shape 1"/>
          <p:cNvSpPr/>
          <p:nvPr/>
        </p:nvSpPr>
        <p:spPr>
          <a:xfrm>
            <a:off x="320040" y="749808"/>
            <a:ext cx="11521440" cy="20117"/>
          </a:xfrm>
          <a:prstGeom prst="rect">
            <a:avLst/>
          </a:prstGeom>
          <a:solidFill>
            <a:srgbClr val="C9A84C"/>
          </a:solidFill>
          <a:ln/>
        </p:spPr>
      </p:sp>
      <p:sp>
        <p:nvSpPr>
          <p:cNvPr id="4" name="Shape 2"/>
          <p:cNvSpPr/>
          <p:nvPr/>
        </p:nvSpPr>
        <p:spPr>
          <a:xfrm>
            <a:off x="320040" y="1005840"/>
            <a:ext cx="3749040" cy="1188720"/>
          </a:xfrm>
          <a:prstGeom prst="roundRect">
            <a:avLst>
              <a:gd name="adj" fmla="val 3846"/>
            </a:avLst>
          </a:prstGeom>
          <a:solidFill>
            <a:srgbClr val="1B2A4A"/>
          </a:solidFill>
          <a:ln/>
        </p:spPr>
      </p:sp>
      <p:sp>
        <p:nvSpPr>
          <p:cNvPr id="5" name="Text 3"/>
          <p:cNvSpPr/>
          <p:nvPr/>
        </p:nvSpPr>
        <p:spPr>
          <a:xfrm>
            <a:off x="411480" y="1097280"/>
            <a:ext cx="356616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 loans / $14.0M</a:t>
            </a:r>
            <a:endParaRPr lang="en-US" sz="2000" dirty="0"/>
          </a:p>
        </p:txBody>
      </p:sp>
      <p:sp>
        <p:nvSpPr>
          <p:cNvPr id="6" name="Text 4"/>
          <p:cNvSpPr/>
          <p:nvPr/>
        </p:nvSpPr>
        <p:spPr>
          <a:xfrm>
            <a:off x="411480" y="1719072"/>
            <a:ext cx="3566160" cy="274320"/>
          </a:xfrm>
          <a:prstGeom prst="rect">
            <a:avLst/>
          </a:prstGeom>
          <a:noFill/>
          <a:ln/>
        </p:spPr>
        <p:txBody>
          <a:bodyPr wrap="square" rtlCol="0" anchor="ctr"/>
          <a:lstStyle/>
          <a:p>
            <a:pPr algn="ctr" indent="0" marL="0">
              <a:buNone/>
            </a:pPr>
            <a:r>
              <a:rPr lang="en-US" sz="1000" dirty="0">
                <a:solidFill>
                  <a:srgbClr val="AACCEE"/>
                </a:solidFill>
                <a:latin typeface="Calibri Light" pitchFamily="34" charset="0"/>
                <a:ea typeface="Calibri Light" pitchFamily="34" charset="-122"/>
                <a:cs typeface="Calibri Light" pitchFamily="34" charset="-120"/>
              </a:rPr>
              <a:t>New Originations</a:t>
            </a:r>
            <a:endParaRPr lang="en-US" sz="1000" dirty="0"/>
          </a:p>
        </p:txBody>
      </p:sp>
      <p:sp>
        <p:nvSpPr>
          <p:cNvPr id="7" name="Shape 5"/>
          <p:cNvSpPr/>
          <p:nvPr/>
        </p:nvSpPr>
        <p:spPr>
          <a:xfrm>
            <a:off x="4270248" y="1005840"/>
            <a:ext cx="3749040" cy="1188720"/>
          </a:xfrm>
          <a:prstGeom prst="roundRect">
            <a:avLst>
              <a:gd name="adj" fmla="val 3846"/>
            </a:avLst>
          </a:prstGeom>
          <a:solidFill>
            <a:srgbClr val="3D6B9E"/>
          </a:solidFill>
          <a:ln/>
        </p:spPr>
      </p:sp>
      <p:sp>
        <p:nvSpPr>
          <p:cNvPr id="8" name="Text 6"/>
          <p:cNvSpPr/>
          <p:nvPr/>
        </p:nvSpPr>
        <p:spPr>
          <a:xfrm>
            <a:off x="4361688" y="1097280"/>
            <a:ext cx="356616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 loan / $9.2M</a:t>
            </a:r>
            <a:endParaRPr lang="en-US" sz="2000" dirty="0"/>
          </a:p>
        </p:txBody>
      </p:sp>
      <p:sp>
        <p:nvSpPr>
          <p:cNvPr id="9" name="Text 7"/>
          <p:cNvSpPr/>
          <p:nvPr/>
        </p:nvSpPr>
        <p:spPr>
          <a:xfrm>
            <a:off x="4361688" y="1719072"/>
            <a:ext cx="3566160" cy="274320"/>
          </a:xfrm>
          <a:prstGeom prst="rect">
            <a:avLst/>
          </a:prstGeom>
          <a:noFill/>
          <a:ln/>
        </p:spPr>
        <p:txBody>
          <a:bodyPr wrap="square" rtlCol="0" anchor="ctr"/>
          <a:lstStyle/>
          <a:p>
            <a:pPr algn="ctr" indent="0" marL="0">
              <a:buNone/>
            </a:pPr>
            <a:r>
              <a:rPr lang="en-US" sz="1000" dirty="0">
                <a:solidFill>
                  <a:srgbClr val="AACCEE"/>
                </a:solidFill>
                <a:latin typeface="Calibri Light" pitchFamily="34" charset="0"/>
                <a:ea typeface="Calibri Light" pitchFamily="34" charset="-122"/>
                <a:cs typeface="Calibri Light" pitchFamily="34" charset="-120"/>
              </a:rPr>
              <a:t>Repayments / Exits</a:t>
            </a:r>
            <a:endParaRPr lang="en-US" sz="1000" dirty="0"/>
          </a:p>
        </p:txBody>
      </p:sp>
      <p:sp>
        <p:nvSpPr>
          <p:cNvPr id="10" name="Shape 8"/>
          <p:cNvSpPr/>
          <p:nvPr/>
        </p:nvSpPr>
        <p:spPr>
          <a:xfrm>
            <a:off x="8220456" y="1005840"/>
            <a:ext cx="3749040" cy="1188720"/>
          </a:xfrm>
          <a:prstGeom prst="roundRect">
            <a:avLst>
              <a:gd name="adj" fmla="val 3846"/>
            </a:avLst>
          </a:prstGeom>
          <a:solidFill>
            <a:srgbClr val="4A6741"/>
          </a:solidFill>
          <a:ln/>
        </p:spPr>
      </p:sp>
      <p:sp>
        <p:nvSpPr>
          <p:cNvPr id="11" name="Text 9"/>
          <p:cNvSpPr/>
          <p:nvPr/>
        </p:nvSpPr>
        <p:spPr>
          <a:xfrm>
            <a:off x="8311896" y="1097280"/>
            <a:ext cx="356616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 loans / $22.0M</a:t>
            </a:r>
            <a:endParaRPr lang="en-US" sz="2000" dirty="0"/>
          </a:p>
        </p:txBody>
      </p:sp>
      <p:sp>
        <p:nvSpPr>
          <p:cNvPr id="12" name="Text 10"/>
          <p:cNvSpPr/>
          <p:nvPr/>
        </p:nvSpPr>
        <p:spPr>
          <a:xfrm>
            <a:off x="8311896" y="1719072"/>
            <a:ext cx="3566160" cy="274320"/>
          </a:xfrm>
          <a:prstGeom prst="rect">
            <a:avLst/>
          </a:prstGeom>
          <a:noFill/>
          <a:ln/>
        </p:spPr>
        <p:txBody>
          <a:bodyPr wrap="square" rtlCol="0" anchor="ctr"/>
          <a:lstStyle/>
          <a:p>
            <a:pPr algn="ctr" indent="0" marL="0">
              <a:buNone/>
            </a:pPr>
            <a:r>
              <a:rPr lang="en-US" sz="1000" dirty="0">
                <a:solidFill>
                  <a:srgbClr val="AACCEE"/>
                </a:solidFill>
                <a:latin typeface="Calibri Light" pitchFamily="34" charset="0"/>
                <a:ea typeface="Calibri Light" pitchFamily="34" charset="-122"/>
                <a:cs typeface="Calibri Light" pitchFamily="34" charset="-120"/>
              </a:rPr>
              <a:t>Pipeline (Q2 2026)</a:t>
            </a:r>
            <a:endParaRPr lang="en-US" sz="1000" dirty="0"/>
          </a:p>
        </p:txBody>
      </p:sp>
      <p:sp>
        <p:nvSpPr>
          <p:cNvPr id="13" name="Text 11"/>
          <p:cNvSpPr/>
          <p:nvPr/>
        </p:nvSpPr>
        <p:spPr>
          <a:xfrm>
            <a:off x="320040" y="2423160"/>
            <a:ext cx="11521440" cy="32004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New Originations — April 2026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2770632"/>
          <a:ext cx="11521440" cy="914400"/>
        </p:xfrm>
        <a:graphic>
          <a:graphicData uri="http://schemas.openxmlformats.org/drawingml/2006/table">
            <a:tbl>
              <a:tblPr/>
              <a:tblGrid>
                <a:gridCol w="2286000"/>
                <a:gridCol w="1371600"/>
                <a:gridCol w="914400"/>
                <a:gridCol w="685800"/>
                <a:gridCol w="1143000"/>
                <a:gridCol w="685800"/>
                <a:gridCol w="1371600"/>
              </a:tblGrid>
              <a:tr h="36576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Property</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Market</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Loan Amt</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LTV</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Coupon</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Term</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65760">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Riverside Commons</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Austin, TX</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$8.5M</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58.2%</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SOFR+350</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24 mo</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Multifamily</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Harbor Point Industrial</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Tampa, FL</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$5.5M</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63.8%</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SOFR+375</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18 mo</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Industrial</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bl>
          </a:graphicData>
        </a:graphic>
      </p:graphicFrame>
      <p:sp>
        <p:nvSpPr>
          <p:cNvPr id="15" name="Text 12"/>
          <p:cNvSpPr/>
          <p:nvPr/>
        </p:nvSpPr>
        <p:spPr>
          <a:xfrm>
            <a:off x="320040" y="4434840"/>
            <a:ext cx="11521440" cy="1097280"/>
          </a:xfrm>
          <a:prstGeom prst="rect">
            <a:avLst/>
          </a:prstGeom>
          <a:noFill/>
          <a:ln/>
        </p:spPr>
        <p:txBody>
          <a:bodyPr wrap="square" rtlCol="0" anchor="ctr"/>
          <a:lstStyle/>
          <a:p>
            <a:pPr indent="0" marL="0">
              <a:buNone/>
            </a:pPr>
            <a:r>
              <a:rPr lang="en-US" sz="1100" dirty="0">
                <a:solidFill>
                  <a:srgbClr val="2C3E50"/>
                </a:solidFill>
                <a:latin typeface="Calibri Light" pitchFamily="34" charset="0"/>
                <a:ea typeface="Calibri Light" pitchFamily="34" charset="-122"/>
                <a:cs typeface="Calibri Light" pitchFamily="34" charset="-120"/>
              </a:rPr>
              <a:t>The fund closed two new senior secured loans in April, deploying $14.0M at a blended weighted average LTV of 60.5% and coupon of SOFR+360 bps. Riverside Commons (Austin) represents the fund's fifth Texas exposure, reinforcing the Sunbelt concentration strategy. One $9.2M retail center loan repaid at par. The pipeline of $22M is expected to close in Q2 2026.</a:t>
            </a:r>
            <a:endParaRPr lang="en-US" sz="1100" dirty="0"/>
          </a:p>
        </p:txBody>
      </p:sp>
      <p:sp>
        <p:nvSpPr>
          <p:cNvPr id="16" name="Text 13"/>
          <p:cNvSpPr/>
          <p:nvPr/>
        </p:nvSpPr>
        <p:spPr>
          <a:xfrm>
            <a:off x="320040" y="6565392"/>
            <a:ext cx="5029200" cy="182880"/>
          </a:xfrm>
          <a:prstGeom prst="rect">
            <a:avLst/>
          </a:prstGeom>
          <a:noFill/>
          <a:ln/>
        </p:spPr>
        <p:txBody>
          <a:bodyPr wrap="square" rtlCol="0" anchor="ctr"/>
          <a:lstStyle/>
          <a:p>
            <a:pPr indent="0" marL="0">
              <a:buNone/>
            </a:pPr>
            <a:r>
              <a:rPr lang="en-US" sz="700" dirty="0">
                <a:solidFill>
                  <a:srgbClr val="8899AA"/>
                </a:solidFill>
                <a:latin typeface="Calibri Light" pitchFamily="34" charset="0"/>
                <a:ea typeface="Calibri Light" pitchFamily="34" charset="-122"/>
                <a:cs typeface="Calibri Light" pitchFamily="34" charset="-120"/>
              </a:rPr>
              <a:t>CONFIDENTIAL — FOR LIMITED PARTNERS ONLY</a:t>
            </a:r>
            <a:endParaRPr lang="en-US" sz="700" dirty="0"/>
          </a:p>
        </p:txBody>
      </p:sp>
      <p:sp>
        <p:nvSpPr>
          <p:cNvPr id="17" name="Text 14"/>
          <p:cNvSpPr/>
          <p:nvPr/>
        </p:nvSpPr>
        <p:spPr>
          <a:xfrm>
            <a:off x="5760720" y="6565392"/>
            <a:ext cx="731520" cy="182880"/>
          </a:xfrm>
          <a:prstGeom prst="rect">
            <a:avLst/>
          </a:prstGeom>
          <a:noFill/>
          <a:ln/>
        </p:spPr>
        <p:txBody>
          <a:bodyPr wrap="square" rtlCol="0" anchor="ctr"/>
          <a:lstStyle/>
          <a:p>
            <a:pPr algn="ctr" indent="0" marL="0">
              <a:buNone/>
            </a:pPr>
            <a:r>
              <a:rPr lang="en-US" sz="700" dirty="0">
                <a:solidFill>
                  <a:srgbClr val="8899AA"/>
                </a:solidFill>
                <a:latin typeface="Calibri Light" pitchFamily="34" charset="0"/>
                <a:ea typeface="Calibri Light" pitchFamily="34" charset="-122"/>
                <a:cs typeface="Calibri Light" pitchFamily="34" charset="-120"/>
              </a:rPr>
              <a:t>6 of 9</a:t>
            </a:r>
            <a:endParaRPr lang="en-US" sz="700" dirty="0"/>
          </a:p>
        </p:txBody>
      </p:sp>
      <p:sp>
        <p:nvSpPr>
          <p:cNvPr id="18" name="Text 15"/>
          <p:cNvSpPr/>
          <p:nvPr/>
        </p:nvSpPr>
        <p:spPr>
          <a:xfrm>
            <a:off x="8229600" y="6565392"/>
            <a:ext cx="3749040" cy="182880"/>
          </a:xfrm>
          <a:prstGeom prst="rect">
            <a:avLst/>
          </a:prstGeom>
          <a:noFill/>
          <a:ln/>
        </p:spPr>
        <p:txBody>
          <a:bodyPr wrap="square" rtlCol="0" anchor="ctr"/>
          <a:lstStyle/>
          <a:p>
            <a:pPr algn="r" indent="0" marL="0">
              <a:buNone/>
            </a:pPr>
            <a:r>
              <a:rPr lang="en-US" sz="700" dirty="0">
                <a:solidFill>
                  <a:srgbClr val="8899AA"/>
                </a:solidFill>
                <a:latin typeface="Calibri Light" pitchFamily="34" charset="0"/>
                <a:ea typeface="Calibri Light" pitchFamily="34" charset="-122"/>
                <a:cs typeface="Calibri Light" pitchFamily="34" charset="-120"/>
              </a:rPr>
              <a:t>Cana Capital Fund I  |  April 2026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20040" y="182880"/>
            <a:ext cx="11430000" cy="54864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Portfolio Composition</a:t>
            </a:r>
            <a:endParaRPr lang="en-US" sz="2600" dirty="0"/>
          </a:p>
        </p:txBody>
      </p:sp>
      <p:sp>
        <p:nvSpPr>
          <p:cNvPr id="3" name="Shape 1"/>
          <p:cNvSpPr/>
          <p:nvPr/>
        </p:nvSpPr>
        <p:spPr>
          <a:xfrm>
            <a:off x="320040" y="749808"/>
            <a:ext cx="11521440" cy="20117"/>
          </a:xfrm>
          <a:prstGeom prst="rect">
            <a:avLst/>
          </a:prstGeom>
          <a:solidFill>
            <a:srgbClr val="C9A84C"/>
          </a:solidFill>
          <a:ln/>
        </p:spPr>
      </p:sp>
      <p:sp>
        <p:nvSpPr>
          <p:cNvPr id="4" name="Text 2"/>
          <p:cNvSpPr/>
          <p:nvPr/>
        </p:nvSpPr>
        <p:spPr>
          <a:xfrm>
            <a:off x="320040" y="960120"/>
            <a:ext cx="5486400" cy="32004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By Geography (MSA / State)</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307592"/>
          <a:ext cx="5760720" cy="914400"/>
        </p:xfrm>
        <a:graphic>
          <a:graphicData uri="http://schemas.openxmlformats.org/drawingml/2006/table">
            <a:tbl>
              <a:tblPr/>
              <a:tblGrid>
                <a:gridCol w="1737360"/>
                <a:gridCol w="822960"/>
                <a:gridCol w="1280160"/>
                <a:gridCol w="1371600"/>
              </a:tblGrid>
              <a:tr h="35661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Market</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 Loans</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Deployed</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 Portfolio</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56616">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Texas</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5</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$44.2M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Florida</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3</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$33.2M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24%</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56616">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Southeast</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3</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$26.3M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Southwest</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2</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$20.7M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56616">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Other</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1</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$13.8M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56616">
                <a:tc>
                  <a:txBody>
                    <a:bodyPr/>
                    <a:lstStyle/>
                    <a:p>
                      <a:pPr indent="0" marL="0">
                        <a:buNone/>
                      </a:pPr>
                      <a:r>
                        <a:rPr lang="en-US" sz="900" b="1" dirty="0">
                          <a:solidFill>
                            <a:srgbClr val="1B2A4A"/>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8FA"/>
                    </a:solidFill>
                  </a:tcPr>
                </a:tc>
                <a:tc>
                  <a:txBody>
                    <a:bodyPr/>
                    <a:lstStyle/>
                    <a:p>
                      <a:pPr algn="r" indent="0" marL="0">
                        <a:buNone/>
                      </a:pPr>
                      <a:r>
                        <a:rPr lang="en-US" sz="900" b="1" dirty="0">
                          <a:solidFill>
                            <a:srgbClr val="000000"/>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8FA"/>
                    </a:solidFill>
                  </a:tcPr>
                </a:tc>
                <a:tc>
                  <a:txBody>
                    <a:bodyPr/>
                    <a:lstStyle/>
                    <a:p>
                      <a:pPr algn="r" indent="0" marL="0">
                        <a:buNone/>
                      </a:pPr>
                      <a:r>
                        <a:rPr lang="en-US" sz="900" b="1" dirty="0">
                          <a:solidFill>
                            <a:srgbClr val="000000"/>
                          </a:solidFill>
                          <a:latin typeface="Calibri" pitchFamily="34" charset="0"/>
                          <a:ea typeface="Calibri" pitchFamily="34" charset="-122"/>
                          <a:cs typeface="Calibri" pitchFamily="34" charset="-120"/>
                        </a:rPr>
                        <a:t>$138.2M</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8FA"/>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7F8FA"/>
                    </a:solidFill>
                  </a:tcPr>
                </a:tc>
              </a:tr>
            </a:tbl>
          </a:graphicData>
        </a:graphic>
      </p:graphicFrame>
      <p:sp>
        <p:nvSpPr>
          <p:cNvPr id="6" name="Shape 3"/>
          <p:cNvSpPr/>
          <p:nvPr/>
        </p:nvSpPr>
        <p:spPr>
          <a:xfrm>
            <a:off x="6355080" y="914400"/>
            <a:ext cx="20117" cy="3657600"/>
          </a:xfrm>
          <a:prstGeom prst="rect">
            <a:avLst/>
          </a:prstGeom>
          <a:solidFill>
            <a:srgbClr val="C9A84C"/>
          </a:solidFill>
          <a:ln/>
        </p:spPr>
      </p:sp>
      <p:sp>
        <p:nvSpPr>
          <p:cNvPr id="7" name="Text 4"/>
          <p:cNvSpPr/>
          <p:nvPr/>
        </p:nvSpPr>
        <p:spPr>
          <a:xfrm>
            <a:off x="6583680" y="960120"/>
            <a:ext cx="5303520" cy="32004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By Property Type</a:t>
            </a:r>
            <a:endParaRPr lang="en-US" sz="11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583680" y="1307592"/>
          <a:ext cx="5303520" cy="914400"/>
        </p:xfrm>
        <a:graphic>
          <a:graphicData uri="http://schemas.openxmlformats.org/drawingml/2006/table">
            <a:tbl>
              <a:tblPr/>
              <a:tblGrid>
                <a:gridCol w="2103120"/>
                <a:gridCol w="1463040"/>
                <a:gridCol w="1463040"/>
              </a:tblGrid>
              <a:tr h="35661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Property Type</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 Allocation</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Balance</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56616">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Multifamily</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9A84C"/>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$48.4M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Industrial</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ctr" indent="0" marL="0">
                        <a:buNone/>
                      </a:pPr>
                      <a:r>
                        <a:rPr lang="en-US" sz="900" b="1" dirty="0">
                          <a:solidFill>
                            <a:srgbClr val="C9A84C"/>
                          </a:solidFill>
                          <a:latin typeface="Calibri" pitchFamily="34" charset="0"/>
                          <a:ea typeface="Calibri" pitchFamily="34" charset="-122"/>
                          <a:cs typeface="Calibri" pitchFamily="34" charset="-120"/>
                        </a:rPr>
                        <a:t>28%</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$38.7M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56616">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Mixed-Use</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9A84C"/>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$24.9M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56616">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Retail</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ctr" indent="0" marL="0">
                        <a:buNone/>
                      </a:pPr>
                      <a:r>
                        <a:rPr lang="en-US" sz="900" b="1" dirty="0">
                          <a:solidFill>
                            <a:srgbClr val="C9A84C"/>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$16.6M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56616">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Office</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C9A84C"/>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$9.7M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bl>
          </a:graphicData>
        </a:graphic>
      </p:graphicFrame>
      <p:sp>
        <p:nvSpPr>
          <p:cNvPr id="9" name="Shape 5"/>
          <p:cNvSpPr/>
          <p:nvPr/>
        </p:nvSpPr>
        <p:spPr>
          <a:xfrm>
            <a:off x="320040" y="4754880"/>
            <a:ext cx="11521440" cy="20117"/>
          </a:xfrm>
          <a:prstGeom prst="rect">
            <a:avLst/>
          </a:prstGeom>
          <a:solidFill>
            <a:srgbClr val="C9A84C"/>
          </a:solidFill>
          <a:ln/>
        </p:spPr>
      </p:sp>
      <p:sp>
        <p:nvSpPr>
          <p:cNvPr id="10" name="Text 6"/>
          <p:cNvSpPr/>
          <p:nvPr/>
        </p:nvSpPr>
        <p:spPr>
          <a:xfrm>
            <a:off x="320040" y="4864608"/>
            <a:ext cx="11521440" cy="32004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Loan Size Concentration</a:t>
            </a:r>
            <a:endParaRPr lang="en-US" sz="1100" dirty="0"/>
          </a:p>
        </p:txBody>
      </p:sp>
      <p:sp>
        <p:nvSpPr>
          <p:cNvPr id="11" name="Shape 7"/>
          <p:cNvSpPr/>
          <p:nvPr/>
        </p:nvSpPr>
        <p:spPr>
          <a:xfrm>
            <a:off x="320040" y="5230368"/>
            <a:ext cx="2743200" cy="1188720"/>
          </a:xfrm>
          <a:prstGeom prst="roundRect">
            <a:avLst>
              <a:gd name="adj" fmla="val 3077"/>
            </a:avLst>
          </a:prstGeom>
          <a:solidFill>
            <a:srgbClr val="FFFFFF"/>
          </a:solidFill>
          <a:ln w="6350">
            <a:solidFill>
              <a:srgbClr val="1B2A4A"/>
            </a:solidFill>
            <a:prstDash val="solid"/>
          </a:ln>
        </p:spPr>
      </p:sp>
      <p:sp>
        <p:nvSpPr>
          <p:cNvPr id="12" name="Text 8"/>
          <p:cNvSpPr/>
          <p:nvPr/>
        </p:nvSpPr>
        <p:spPr>
          <a:xfrm>
            <a:off x="411480" y="5321808"/>
            <a:ext cx="2560320" cy="502920"/>
          </a:xfrm>
          <a:prstGeom prst="rect">
            <a:avLst/>
          </a:prstGeom>
          <a:noFill/>
          <a:ln/>
        </p:spPr>
        <p:txBody>
          <a:bodyPr wrap="square" rtlCol="0" anchor="ctr"/>
          <a:lstStyle/>
          <a:p>
            <a:pPr algn="ctr" indent="0" marL="0">
              <a:buNone/>
            </a:pPr>
            <a:r>
              <a:rPr lang="en-US" sz="2600" b="1" dirty="0">
                <a:solidFill>
                  <a:srgbClr val="C9A84C"/>
                </a:solidFill>
                <a:latin typeface="Calibri" pitchFamily="34" charset="0"/>
                <a:ea typeface="Calibri" pitchFamily="34" charset="-122"/>
                <a:cs typeface="Calibri" pitchFamily="34" charset="-120"/>
              </a:rPr>
              <a:t>5.7%</a:t>
            </a:r>
            <a:endParaRPr lang="en-US" sz="2600" dirty="0"/>
          </a:p>
        </p:txBody>
      </p:sp>
      <p:sp>
        <p:nvSpPr>
          <p:cNvPr id="13" name="Text 9"/>
          <p:cNvSpPr/>
          <p:nvPr/>
        </p:nvSpPr>
        <p:spPr>
          <a:xfrm>
            <a:off x="411480" y="5806440"/>
            <a:ext cx="2560320" cy="228600"/>
          </a:xfrm>
          <a:prstGeom prst="rect">
            <a:avLst/>
          </a:prstGeom>
          <a:noFill/>
          <a:ln/>
        </p:spPr>
        <p:txBody>
          <a:bodyPr wrap="square" rtlCol="0" anchor="ctr"/>
          <a:lstStyle/>
          <a:p>
            <a:pPr algn="ctr" indent="0" marL="0">
              <a:buNone/>
            </a:pPr>
            <a:r>
              <a:rPr lang="en-US" sz="900" dirty="0">
                <a:solidFill>
                  <a:srgbClr val="2C3E50"/>
                </a:solidFill>
                <a:latin typeface="Calibri Light" pitchFamily="34" charset="0"/>
                <a:ea typeface="Calibri Light" pitchFamily="34" charset="-122"/>
                <a:cs typeface="Calibri Light" pitchFamily="34" charset="-120"/>
              </a:rPr>
              <a:t>2 loans</a:t>
            </a:r>
            <a:endParaRPr lang="en-US" sz="900" dirty="0"/>
          </a:p>
        </p:txBody>
      </p:sp>
      <p:sp>
        <p:nvSpPr>
          <p:cNvPr id="14" name="Text 10"/>
          <p:cNvSpPr/>
          <p:nvPr/>
        </p:nvSpPr>
        <p:spPr>
          <a:xfrm>
            <a:off x="411480" y="6035040"/>
            <a:ext cx="2560320" cy="228600"/>
          </a:xfrm>
          <a:prstGeom prst="rect">
            <a:avLst/>
          </a:prstGeom>
          <a:noFill/>
          <a:ln/>
        </p:spPr>
        <p:txBody>
          <a:bodyPr wrap="square" rtlCol="0" anchor="ctr"/>
          <a:lstStyle/>
          <a:p>
            <a:pPr algn="ctr" indent="0" marL="0">
              <a:buNone/>
            </a:pPr>
            <a:r>
              <a:rPr lang="en-US" sz="800" b="1" dirty="0">
                <a:solidFill>
                  <a:srgbClr val="1B2A4A"/>
                </a:solidFill>
                <a:latin typeface="Calibri" pitchFamily="34" charset="0"/>
                <a:ea typeface="Calibri" pitchFamily="34" charset="-122"/>
                <a:cs typeface="Calibri" pitchFamily="34" charset="-120"/>
              </a:rPr>
              <a:t>&lt; $5M</a:t>
            </a:r>
            <a:endParaRPr lang="en-US" sz="800" dirty="0"/>
          </a:p>
        </p:txBody>
      </p:sp>
      <p:sp>
        <p:nvSpPr>
          <p:cNvPr id="15" name="Shape 11"/>
          <p:cNvSpPr/>
          <p:nvPr/>
        </p:nvSpPr>
        <p:spPr>
          <a:xfrm>
            <a:off x="3264408" y="5230368"/>
            <a:ext cx="2743200" cy="1188720"/>
          </a:xfrm>
          <a:prstGeom prst="roundRect">
            <a:avLst>
              <a:gd name="adj" fmla="val 3077"/>
            </a:avLst>
          </a:prstGeom>
          <a:solidFill>
            <a:srgbClr val="FFFFFF"/>
          </a:solidFill>
          <a:ln w="6350">
            <a:solidFill>
              <a:srgbClr val="1B2A4A"/>
            </a:solidFill>
            <a:prstDash val="solid"/>
          </a:ln>
        </p:spPr>
      </p:sp>
      <p:sp>
        <p:nvSpPr>
          <p:cNvPr id="16" name="Text 12"/>
          <p:cNvSpPr/>
          <p:nvPr/>
        </p:nvSpPr>
        <p:spPr>
          <a:xfrm>
            <a:off x="3355848" y="5321808"/>
            <a:ext cx="2560320" cy="502920"/>
          </a:xfrm>
          <a:prstGeom prst="rect">
            <a:avLst/>
          </a:prstGeom>
          <a:noFill/>
          <a:ln/>
        </p:spPr>
        <p:txBody>
          <a:bodyPr wrap="square" rtlCol="0" anchor="ctr"/>
          <a:lstStyle/>
          <a:p>
            <a:pPr algn="ctr" indent="0" marL="0">
              <a:buNone/>
            </a:pPr>
            <a:r>
              <a:rPr lang="en-US" sz="2600" b="1" dirty="0">
                <a:solidFill>
                  <a:srgbClr val="C9A84C"/>
                </a:solidFill>
                <a:latin typeface="Calibri" pitchFamily="34" charset="0"/>
                <a:ea typeface="Calibri" pitchFamily="34" charset="-122"/>
                <a:cs typeface="Calibri" pitchFamily="34" charset="-120"/>
              </a:rPr>
              <a:t>35.0%</a:t>
            </a:r>
            <a:endParaRPr lang="en-US" sz="2600" dirty="0"/>
          </a:p>
        </p:txBody>
      </p:sp>
      <p:sp>
        <p:nvSpPr>
          <p:cNvPr id="17" name="Text 13"/>
          <p:cNvSpPr/>
          <p:nvPr/>
        </p:nvSpPr>
        <p:spPr>
          <a:xfrm>
            <a:off x="3355848" y="5806440"/>
            <a:ext cx="2560320" cy="228600"/>
          </a:xfrm>
          <a:prstGeom prst="rect">
            <a:avLst/>
          </a:prstGeom>
          <a:noFill/>
          <a:ln/>
        </p:spPr>
        <p:txBody>
          <a:bodyPr wrap="square" rtlCol="0" anchor="ctr"/>
          <a:lstStyle/>
          <a:p>
            <a:pPr algn="ctr" indent="0" marL="0">
              <a:buNone/>
            </a:pPr>
            <a:r>
              <a:rPr lang="en-US" sz="900" dirty="0">
                <a:solidFill>
                  <a:srgbClr val="2C3E50"/>
                </a:solidFill>
                <a:latin typeface="Calibri Light" pitchFamily="34" charset="0"/>
                <a:ea typeface="Calibri Light" pitchFamily="34" charset="-122"/>
                <a:cs typeface="Calibri Light" pitchFamily="34" charset="-120"/>
              </a:rPr>
              <a:t>6 loans</a:t>
            </a:r>
            <a:endParaRPr lang="en-US" sz="900" dirty="0"/>
          </a:p>
        </p:txBody>
      </p:sp>
      <p:sp>
        <p:nvSpPr>
          <p:cNvPr id="18" name="Text 14"/>
          <p:cNvSpPr/>
          <p:nvPr/>
        </p:nvSpPr>
        <p:spPr>
          <a:xfrm>
            <a:off x="3355848" y="6035040"/>
            <a:ext cx="2560320" cy="228600"/>
          </a:xfrm>
          <a:prstGeom prst="rect">
            <a:avLst/>
          </a:prstGeom>
          <a:noFill/>
          <a:ln/>
        </p:spPr>
        <p:txBody>
          <a:bodyPr wrap="square" rtlCol="0" anchor="ctr"/>
          <a:lstStyle/>
          <a:p>
            <a:pPr algn="ctr" indent="0" marL="0">
              <a:buNone/>
            </a:pPr>
            <a:r>
              <a:rPr lang="en-US" sz="800" b="1" dirty="0">
                <a:solidFill>
                  <a:srgbClr val="1B2A4A"/>
                </a:solidFill>
                <a:latin typeface="Calibri" pitchFamily="34" charset="0"/>
                <a:ea typeface="Calibri" pitchFamily="34" charset="-122"/>
                <a:cs typeface="Calibri" pitchFamily="34" charset="-120"/>
              </a:rPr>
              <a:t>$5M–$10M</a:t>
            </a:r>
            <a:endParaRPr lang="en-US" sz="800" dirty="0"/>
          </a:p>
        </p:txBody>
      </p:sp>
      <p:sp>
        <p:nvSpPr>
          <p:cNvPr id="19" name="Shape 15"/>
          <p:cNvSpPr/>
          <p:nvPr/>
        </p:nvSpPr>
        <p:spPr>
          <a:xfrm>
            <a:off x="6208776" y="5230368"/>
            <a:ext cx="2743200" cy="1188720"/>
          </a:xfrm>
          <a:prstGeom prst="roundRect">
            <a:avLst>
              <a:gd name="adj" fmla="val 3077"/>
            </a:avLst>
          </a:prstGeom>
          <a:solidFill>
            <a:srgbClr val="FFFFFF"/>
          </a:solidFill>
          <a:ln w="6350">
            <a:solidFill>
              <a:srgbClr val="1B2A4A"/>
            </a:solidFill>
            <a:prstDash val="solid"/>
          </a:ln>
        </p:spPr>
      </p:sp>
      <p:sp>
        <p:nvSpPr>
          <p:cNvPr id="20" name="Text 16"/>
          <p:cNvSpPr/>
          <p:nvPr/>
        </p:nvSpPr>
        <p:spPr>
          <a:xfrm>
            <a:off x="6300216" y="5321808"/>
            <a:ext cx="2560320" cy="502920"/>
          </a:xfrm>
          <a:prstGeom prst="rect">
            <a:avLst/>
          </a:prstGeom>
          <a:noFill/>
          <a:ln/>
        </p:spPr>
        <p:txBody>
          <a:bodyPr wrap="square" rtlCol="0" anchor="ctr"/>
          <a:lstStyle/>
          <a:p>
            <a:pPr algn="ctr" indent="0" marL="0">
              <a:buNone/>
            </a:pPr>
            <a:r>
              <a:rPr lang="en-US" sz="2600" b="1" dirty="0">
                <a:solidFill>
                  <a:srgbClr val="C9A84C"/>
                </a:solidFill>
                <a:latin typeface="Calibri" pitchFamily="34" charset="0"/>
                <a:ea typeface="Calibri" pitchFamily="34" charset="-122"/>
                <a:cs typeface="Calibri" pitchFamily="34" charset="-120"/>
              </a:rPr>
              <a:t>50.0%</a:t>
            </a:r>
            <a:endParaRPr lang="en-US" sz="2600" dirty="0"/>
          </a:p>
        </p:txBody>
      </p:sp>
      <p:sp>
        <p:nvSpPr>
          <p:cNvPr id="21" name="Text 17"/>
          <p:cNvSpPr/>
          <p:nvPr/>
        </p:nvSpPr>
        <p:spPr>
          <a:xfrm>
            <a:off x="6300216" y="5806440"/>
            <a:ext cx="2560320" cy="228600"/>
          </a:xfrm>
          <a:prstGeom prst="rect">
            <a:avLst/>
          </a:prstGeom>
          <a:noFill/>
          <a:ln/>
        </p:spPr>
        <p:txBody>
          <a:bodyPr wrap="square" rtlCol="0" anchor="ctr"/>
          <a:lstStyle/>
          <a:p>
            <a:pPr algn="ctr" indent="0" marL="0">
              <a:buNone/>
            </a:pPr>
            <a:r>
              <a:rPr lang="en-US" sz="900" dirty="0">
                <a:solidFill>
                  <a:srgbClr val="2C3E50"/>
                </a:solidFill>
                <a:latin typeface="Calibri Light" pitchFamily="34" charset="0"/>
                <a:ea typeface="Calibri Light" pitchFamily="34" charset="-122"/>
                <a:cs typeface="Calibri Light" pitchFamily="34" charset="-120"/>
              </a:rPr>
              <a:t>5 loans</a:t>
            </a:r>
            <a:endParaRPr lang="en-US" sz="900" dirty="0"/>
          </a:p>
        </p:txBody>
      </p:sp>
      <p:sp>
        <p:nvSpPr>
          <p:cNvPr id="22" name="Text 18"/>
          <p:cNvSpPr/>
          <p:nvPr/>
        </p:nvSpPr>
        <p:spPr>
          <a:xfrm>
            <a:off x="6300216" y="6035040"/>
            <a:ext cx="2560320" cy="228600"/>
          </a:xfrm>
          <a:prstGeom prst="rect">
            <a:avLst/>
          </a:prstGeom>
          <a:noFill/>
          <a:ln/>
        </p:spPr>
        <p:txBody>
          <a:bodyPr wrap="square" rtlCol="0" anchor="ctr"/>
          <a:lstStyle/>
          <a:p>
            <a:pPr algn="ctr" indent="0" marL="0">
              <a:buNone/>
            </a:pPr>
            <a:r>
              <a:rPr lang="en-US" sz="800" b="1" dirty="0">
                <a:solidFill>
                  <a:srgbClr val="1B2A4A"/>
                </a:solidFill>
                <a:latin typeface="Calibri" pitchFamily="34" charset="0"/>
                <a:ea typeface="Calibri" pitchFamily="34" charset="-122"/>
                <a:cs typeface="Calibri" pitchFamily="34" charset="-120"/>
              </a:rPr>
              <a:t>$10M–$20M</a:t>
            </a:r>
            <a:endParaRPr lang="en-US" sz="800" dirty="0"/>
          </a:p>
        </p:txBody>
      </p:sp>
      <p:sp>
        <p:nvSpPr>
          <p:cNvPr id="23" name="Shape 19"/>
          <p:cNvSpPr/>
          <p:nvPr/>
        </p:nvSpPr>
        <p:spPr>
          <a:xfrm>
            <a:off x="9153144" y="5230368"/>
            <a:ext cx="2743200" cy="1188720"/>
          </a:xfrm>
          <a:prstGeom prst="roundRect">
            <a:avLst>
              <a:gd name="adj" fmla="val 3077"/>
            </a:avLst>
          </a:prstGeom>
          <a:solidFill>
            <a:srgbClr val="FFFFFF"/>
          </a:solidFill>
          <a:ln w="6350">
            <a:solidFill>
              <a:srgbClr val="1B2A4A"/>
            </a:solidFill>
            <a:prstDash val="solid"/>
          </a:ln>
        </p:spPr>
      </p:sp>
      <p:sp>
        <p:nvSpPr>
          <p:cNvPr id="24" name="Text 20"/>
          <p:cNvSpPr/>
          <p:nvPr/>
        </p:nvSpPr>
        <p:spPr>
          <a:xfrm>
            <a:off x="9244584" y="5321808"/>
            <a:ext cx="2560320" cy="502920"/>
          </a:xfrm>
          <a:prstGeom prst="rect">
            <a:avLst/>
          </a:prstGeom>
          <a:noFill/>
          <a:ln/>
        </p:spPr>
        <p:txBody>
          <a:bodyPr wrap="square" rtlCol="0" anchor="ctr"/>
          <a:lstStyle/>
          <a:p>
            <a:pPr algn="ctr" indent="0" marL="0">
              <a:buNone/>
            </a:pPr>
            <a:r>
              <a:rPr lang="en-US" sz="2600" b="1" dirty="0">
                <a:solidFill>
                  <a:srgbClr val="C9A84C"/>
                </a:solidFill>
                <a:latin typeface="Calibri" pitchFamily="34" charset="0"/>
                <a:ea typeface="Calibri" pitchFamily="34" charset="-122"/>
                <a:cs typeface="Calibri" pitchFamily="34" charset="-120"/>
              </a:rPr>
              <a:t>9.3%</a:t>
            </a:r>
            <a:endParaRPr lang="en-US" sz="2600" dirty="0"/>
          </a:p>
        </p:txBody>
      </p:sp>
      <p:sp>
        <p:nvSpPr>
          <p:cNvPr id="25" name="Text 21"/>
          <p:cNvSpPr/>
          <p:nvPr/>
        </p:nvSpPr>
        <p:spPr>
          <a:xfrm>
            <a:off x="9244584" y="5806440"/>
            <a:ext cx="2560320" cy="228600"/>
          </a:xfrm>
          <a:prstGeom prst="rect">
            <a:avLst/>
          </a:prstGeom>
          <a:noFill/>
          <a:ln/>
        </p:spPr>
        <p:txBody>
          <a:bodyPr wrap="square" rtlCol="0" anchor="ctr"/>
          <a:lstStyle/>
          <a:p>
            <a:pPr algn="ctr" indent="0" marL="0">
              <a:buNone/>
            </a:pPr>
            <a:r>
              <a:rPr lang="en-US" sz="900" dirty="0">
                <a:solidFill>
                  <a:srgbClr val="2C3E50"/>
                </a:solidFill>
                <a:latin typeface="Calibri Light" pitchFamily="34" charset="0"/>
                <a:ea typeface="Calibri Light" pitchFamily="34" charset="-122"/>
                <a:cs typeface="Calibri Light" pitchFamily="34" charset="-120"/>
              </a:rPr>
              <a:t>1 loan</a:t>
            </a:r>
            <a:endParaRPr lang="en-US" sz="900" dirty="0"/>
          </a:p>
        </p:txBody>
      </p:sp>
      <p:sp>
        <p:nvSpPr>
          <p:cNvPr id="26" name="Text 22"/>
          <p:cNvSpPr/>
          <p:nvPr/>
        </p:nvSpPr>
        <p:spPr>
          <a:xfrm>
            <a:off x="9244584" y="6035040"/>
            <a:ext cx="2560320" cy="228600"/>
          </a:xfrm>
          <a:prstGeom prst="rect">
            <a:avLst/>
          </a:prstGeom>
          <a:noFill/>
          <a:ln/>
        </p:spPr>
        <p:txBody>
          <a:bodyPr wrap="square" rtlCol="0" anchor="ctr"/>
          <a:lstStyle/>
          <a:p>
            <a:pPr algn="ctr" indent="0" marL="0">
              <a:buNone/>
            </a:pPr>
            <a:r>
              <a:rPr lang="en-US" sz="800" b="1" dirty="0">
                <a:solidFill>
                  <a:srgbClr val="1B2A4A"/>
                </a:solidFill>
                <a:latin typeface="Calibri" pitchFamily="34" charset="0"/>
                <a:ea typeface="Calibri" pitchFamily="34" charset="-122"/>
                <a:cs typeface="Calibri" pitchFamily="34" charset="-120"/>
              </a:rPr>
              <a:t>&gt; $20M</a:t>
            </a:r>
            <a:endParaRPr lang="en-US" sz="800" dirty="0"/>
          </a:p>
        </p:txBody>
      </p:sp>
      <p:sp>
        <p:nvSpPr>
          <p:cNvPr id="27" name="Text 23"/>
          <p:cNvSpPr/>
          <p:nvPr/>
        </p:nvSpPr>
        <p:spPr>
          <a:xfrm>
            <a:off x="320040" y="6565392"/>
            <a:ext cx="5029200" cy="182880"/>
          </a:xfrm>
          <a:prstGeom prst="rect">
            <a:avLst/>
          </a:prstGeom>
          <a:noFill/>
          <a:ln/>
        </p:spPr>
        <p:txBody>
          <a:bodyPr wrap="square" rtlCol="0" anchor="ctr"/>
          <a:lstStyle/>
          <a:p>
            <a:pPr indent="0" marL="0">
              <a:buNone/>
            </a:pPr>
            <a:r>
              <a:rPr lang="en-US" sz="700" dirty="0">
                <a:solidFill>
                  <a:srgbClr val="8899AA"/>
                </a:solidFill>
                <a:latin typeface="Calibri Light" pitchFamily="34" charset="0"/>
                <a:ea typeface="Calibri Light" pitchFamily="34" charset="-122"/>
                <a:cs typeface="Calibri Light" pitchFamily="34" charset="-120"/>
              </a:rPr>
              <a:t>CONFIDENTIAL — FOR LIMITED PARTNERS ONLY</a:t>
            </a:r>
            <a:endParaRPr lang="en-US" sz="700" dirty="0"/>
          </a:p>
        </p:txBody>
      </p:sp>
      <p:sp>
        <p:nvSpPr>
          <p:cNvPr id="28" name="Text 24"/>
          <p:cNvSpPr/>
          <p:nvPr/>
        </p:nvSpPr>
        <p:spPr>
          <a:xfrm>
            <a:off x="5760720" y="6565392"/>
            <a:ext cx="731520" cy="182880"/>
          </a:xfrm>
          <a:prstGeom prst="rect">
            <a:avLst/>
          </a:prstGeom>
          <a:noFill/>
          <a:ln/>
        </p:spPr>
        <p:txBody>
          <a:bodyPr wrap="square" rtlCol="0" anchor="ctr"/>
          <a:lstStyle/>
          <a:p>
            <a:pPr algn="ctr" indent="0" marL="0">
              <a:buNone/>
            </a:pPr>
            <a:r>
              <a:rPr lang="en-US" sz="700" dirty="0">
                <a:solidFill>
                  <a:srgbClr val="8899AA"/>
                </a:solidFill>
                <a:latin typeface="Calibri Light" pitchFamily="34" charset="0"/>
                <a:ea typeface="Calibri Light" pitchFamily="34" charset="-122"/>
                <a:cs typeface="Calibri Light" pitchFamily="34" charset="-120"/>
              </a:rPr>
              <a:t>7 of 9</a:t>
            </a:r>
            <a:endParaRPr lang="en-US" sz="700" dirty="0"/>
          </a:p>
        </p:txBody>
      </p:sp>
      <p:sp>
        <p:nvSpPr>
          <p:cNvPr id="29" name="Text 25"/>
          <p:cNvSpPr/>
          <p:nvPr/>
        </p:nvSpPr>
        <p:spPr>
          <a:xfrm>
            <a:off x="8229600" y="6565392"/>
            <a:ext cx="3749040" cy="182880"/>
          </a:xfrm>
          <a:prstGeom prst="rect">
            <a:avLst/>
          </a:prstGeom>
          <a:noFill/>
          <a:ln/>
        </p:spPr>
        <p:txBody>
          <a:bodyPr wrap="square" rtlCol="0" anchor="ctr"/>
          <a:lstStyle/>
          <a:p>
            <a:pPr algn="r" indent="0" marL="0">
              <a:buNone/>
            </a:pPr>
            <a:r>
              <a:rPr lang="en-US" sz="700" dirty="0">
                <a:solidFill>
                  <a:srgbClr val="8899AA"/>
                </a:solidFill>
                <a:latin typeface="Calibri Light" pitchFamily="34" charset="0"/>
                <a:ea typeface="Calibri Light" pitchFamily="34" charset="-122"/>
                <a:cs typeface="Calibri Light" pitchFamily="34" charset="-120"/>
              </a:rPr>
              <a:t>Cana Capital Fund I  |  April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182880"/>
            <a:ext cx="11430000" cy="54864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Outlook</a:t>
            </a:r>
            <a:endParaRPr lang="en-US" sz="3200" dirty="0"/>
          </a:p>
        </p:txBody>
      </p:sp>
      <p:sp>
        <p:nvSpPr>
          <p:cNvPr id="3" name="Shape 1"/>
          <p:cNvSpPr/>
          <p:nvPr/>
        </p:nvSpPr>
        <p:spPr>
          <a:xfrm>
            <a:off x="365760" y="749808"/>
            <a:ext cx="11430000" cy="20117"/>
          </a:xfrm>
          <a:prstGeom prst="rect">
            <a:avLst/>
          </a:prstGeom>
          <a:solidFill>
            <a:srgbClr val="C9A84C"/>
          </a:solidFill>
          <a:ln/>
        </p:spPr>
      </p:sp>
      <p:sp>
        <p:nvSpPr>
          <p:cNvPr id="4" name="Shape 2"/>
          <p:cNvSpPr/>
          <p:nvPr/>
        </p:nvSpPr>
        <p:spPr>
          <a:xfrm>
            <a:off x="914400" y="1097280"/>
            <a:ext cx="10332720" cy="1371600"/>
          </a:xfrm>
          <a:prstGeom prst="roundRect">
            <a:avLst>
              <a:gd name="adj" fmla="val 3333"/>
            </a:avLst>
          </a:prstGeom>
          <a:solidFill>
            <a:srgbClr val="243454"/>
          </a:solidFill>
          <a:ln/>
        </p:spPr>
      </p:sp>
      <p:sp>
        <p:nvSpPr>
          <p:cNvPr id="5" name="Shape 3"/>
          <p:cNvSpPr/>
          <p:nvPr/>
        </p:nvSpPr>
        <p:spPr>
          <a:xfrm>
            <a:off x="914400" y="1097280"/>
            <a:ext cx="64008" cy="1371600"/>
          </a:xfrm>
          <a:prstGeom prst="rect">
            <a:avLst/>
          </a:prstGeom>
          <a:solidFill>
            <a:srgbClr val="C9A84C"/>
          </a:solidFill>
          <a:ln/>
        </p:spPr>
      </p:sp>
      <p:sp>
        <p:nvSpPr>
          <p:cNvPr id="6" name="Text 4"/>
          <p:cNvSpPr/>
          <p:nvPr/>
        </p:nvSpPr>
        <p:spPr>
          <a:xfrm>
            <a:off x="1097280" y="1188720"/>
            <a:ext cx="9966960" cy="118872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$22 million in pipeline loans expected to close in Q2 2026, increasing portfolio utilization to approximately 97% of called capital.</a:t>
            </a:r>
            <a:endParaRPr lang="en-US" sz="1800" dirty="0"/>
          </a:p>
        </p:txBody>
      </p:sp>
      <p:sp>
        <p:nvSpPr>
          <p:cNvPr id="7" name="Text 5"/>
          <p:cNvSpPr/>
          <p:nvPr/>
        </p:nvSpPr>
        <p:spPr>
          <a:xfrm>
            <a:off x="731520" y="2743200"/>
            <a:ext cx="10698480" cy="2011680"/>
          </a:xfrm>
          <a:prstGeom prst="rect">
            <a:avLst/>
          </a:prstGeom>
          <a:noFill/>
          <a:ln/>
        </p:spPr>
        <p:txBody>
          <a:bodyPr wrap="square" rtlCol="0" anchor="t"/>
          <a:lstStyle/>
          <a:p>
            <a:pPr indent="0" marL="0">
              <a:buNone/>
            </a:pPr>
            <a:r>
              <a:rPr lang="en-US" sz="1400" dirty="0">
                <a:solidFill>
                  <a:srgbClr val="FFFFFF"/>
                </a:solidFill>
                <a:latin typeface="Calibri Light" pitchFamily="34" charset="0"/>
                <a:ea typeface="Calibri Light" pitchFamily="34" charset="-122"/>
                <a:cs typeface="Calibri Light" pitchFamily="34" charset="-120"/>
              </a:rPr>
              <a:t>The fund's pipeline of $22 million in near-term originations positions the portfolio for continued income growth through Q2 2026. Credit conditions across the Sunbelt markets where the fund is concentrated remain stable, supported by sustained population inflows and above-average rent growth in multifamily and industrial sectors. Management continues to maintain disciplined underwriting standards with maximum LTVs of 70% on new originations, providing meaningful downside protection across the portfolio.</a:t>
            </a:r>
            <a:endParaRPr lang="en-US" sz="1400" dirty="0"/>
          </a:p>
        </p:txBody>
      </p:sp>
      <p:sp>
        <p:nvSpPr>
          <p:cNvPr id="8" name="Shape 6"/>
          <p:cNvSpPr/>
          <p:nvPr/>
        </p:nvSpPr>
        <p:spPr>
          <a:xfrm>
            <a:off x="914400" y="4937760"/>
            <a:ext cx="10332720" cy="1280160"/>
          </a:xfrm>
          <a:prstGeom prst="roundRect">
            <a:avLst>
              <a:gd name="adj" fmla="val 2857"/>
            </a:avLst>
          </a:prstGeom>
          <a:solidFill>
            <a:srgbClr val="0D1925"/>
          </a:solidFill>
          <a:ln w="6350">
            <a:solidFill>
              <a:srgbClr val="8899AA"/>
            </a:solidFill>
            <a:prstDash val="solid"/>
          </a:ln>
        </p:spPr>
      </p:sp>
      <p:sp>
        <p:nvSpPr>
          <p:cNvPr id="9" name="Text 7"/>
          <p:cNvSpPr/>
          <p:nvPr/>
        </p:nvSpPr>
        <p:spPr>
          <a:xfrm>
            <a:off x="1097280" y="5029200"/>
            <a:ext cx="1828800" cy="274320"/>
          </a:xfrm>
          <a:prstGeom prst="rect">
            <a:avLst/>
          </a:prstGeom>
          <a:noFill/>
          <a:ln/>
        </p:spPr>
        <p:txBody>
          <a:bodyPr wrap="square" rtlCol="0" anchor="ctr"/>
          <a:lstStyle/>
          <a:p>
            <a:pPr indent="0" marL="0">
              <a:buNone/>
            </a:pPr>
            <a:r>
              <a:rPr lang="en-US" sz="900" b="1" dirty="0">
                <a:solidFill>
                  <a:srgbClr val="C9A84C"/>
                </a:solidFill>
                <a:latin typeface="Calibri" pitchFamily="34" charset="0"/>
                <a:ea typeface="Calibri" pitchFamily="34" charset="-122"/>
                <a:cs typeface="Calibri" pitchFamily="34" charset="-120"/>
              </a:rPr>
              <a:t>Market Context</a:t>
            </a:r>
            <a:endParaRPr lang="en-US" sz="900" dirty="0"/>
          </a:p>
        </p:txBody>
      </p:sp>
      <p:sp>
        <p:nvSpPr>
          <p:cNvPr id="10" name="Text 8"/>
          <p:cNvSpPr/>
          <p:nvPr/>
        </p:nvSpPr>
        <p:spPr>
          <a:xfrm>
            <a:off x="1097280" y="5321808"/>
            <a:ext cx="9966960" cy="777240"/>
          </a:xfrm>
          <a:prstGeom prst="rect">
            <a:avLst/>
          </a:prstGeom>
          <a:noFill/>
          <a:ln/>
        </p:spPr>
        <p:txBody>
          <a:bodyPr wrap="square" rtlCol="0" anchor="ctr"/>
          <a:lstStyle/>
          <a:p>
            <a:pPr indent="0" marL="0">
              <a:buNone/>
            </a:pPr>
            <a:r>
              <a:rPr lang="en-US" sz="950" dirty="0">
                <a:solidFill>
                  <a:srgbClr val="AABDD0"/>
                </a:solidFill>
                <a:latin typeface="Calibri Light" pitchFamily="34" charset="0"/>
                <a:ea typeface="Calibri Light" pitchFamily="34" charset="-122"/>
                <a:cs typeface="Calibri Light" pitchFamily="34" charset="-120"/>
              </a:rPr>
              <a:t>SOFR has stabilized in the 5.30–5.35% range, keeping floating-rate coupon income near cycle highs. Sunbelt multifamily fundamentals remain strong with vacancy rates below 5% in the fund's key markets. Industrial demand continues to benefit from e-commerce tailwinds and near-shoring activity.</a:t>
            </a:r>
            <a:endParaRPr lang="en-US" sz="950" dirty="0"/>
          </a:p>
        </p:txBody>
      </p:sp>
      <p:sp>
        <p:nvSpPr>
          <p:cNvPr id="11" name="Text 9"/>
          <p:cNvSpPr/>
          <p:nvPr/>
        </p:nvSpPr>
        <p:spPr>
          <a:xfrm>
            <a:off x="320040" y="6565392"/>
            <a:ext cx="5029200" cy="182880"/>
          </a:xfrm>
          <a:prstGeom prst="rect">
            <a:avLst/>
          </a:prstGeom>
          <a:noFill/>
          <a:ln/>
        </p:spPr>
        <p:txBody>
          <a:bodyPr wrap="square" rtlCol="0" anchor="ctr"/>
          <a:lstStyle/>
          <a:p>
            <a:pPr indent="0" marL="0">
              <a:buNone/>
            </a:pPr>
            <a:r>
              <a:rPr lang="en-US" sz="700" dirty="0">
                <a:solidFill>
                  <a:srgbClr val="8899AA"/>
                </a:solidFill>
                <a:latin typeface="Calibri Light" pitchFamily="34" charset="0"/>
                <a:ea typeface="Calibri Light" pitchFamily="34" charset="-122"/>
                <a:cs typeface="Calibri Light" pitchFamily="34" charset="-120"/>
              </a:rPr>
              <a:t>CONFIDENTIAL — FOR LIMITED PARTNERS ONLY</a:t>
            </a:r>
            <a:endParaRPr lang="en-US" sz="700" dirty="0"/>
          </a:p>
        </p:txBody>
      </p:sp>
      <p:sp>
        <p:nvSpPr>
          <p:cNvPr id="12" name="Text 10"/>
          <p:cNvSpPr/>
          <p:nvPr/>
        </p:nvSpPr>
        <p:spPr>
          <a:xfrm>
            <a:off x="5760720" y="6565392"/>
            <a:ext cx="731520" cy="182880"/>
          </a:xfrm>
          <a:prstGeom prst="rect">
            <a:avLst/>
          </a:prstGeom>
          <a:noFill/>
          <a:ln/>
        </p:spPr>
        <p:txBody>
          <a:bodyPr wrap="square" rtlCol="0" anchor="ctr"/>
          <a:lstStyle/>
          <a:p>
            <a:pPr algn="ctr" indent="0" marL="0">
              <a:buNone/>
            </a:pPr>
            <a:r>
              <a:rPr lang="en-US" sz="700" dirty="0">
                <a:solidFill>
                  <a:srgbClr val="8899AA"/>
                </a:solidFill>
                <a:latin typeface="Calibri Light" pitchFamily="34" charset="0"/>
                <a:ea typeface="Calibri Light" pitchFamily="34" charset="-122"/>
                <a:cs typeface="Calibri Light" pitchFamily="34" charset="-120"/>
              </a:rPr>
              <a:t>8 of 9</a:t>
            </a:r>
            <a:endParaRPr lang="en-US" sz="700" dirty="0"/>
          </a:p>
        </p:txBody>
      </p:sp>
      <p:sp>
        <p:nvSpPr>
          <p:cNvPr id="13" name="Text 11"/>
          <p:cNvSpPr/>
          <p:nvPr/>
        </p:nvSpPr>
        <p:spPr>
          <a:xfrm>
            <a:off x="8229600" y="6565392"/>
            <a:ext cx="3749040" cy="182880"/>
          </a:xfrm>
          <a:prstGeom prst="rect">
            <a:avLst/>
          </a:prstGeom>
          <a:noFill/>
          <a:ln/>
        </p:spPr>
        <p:txBody>
          <a:bodyPr wrap="square" rtlCol="0" anchor="ctr"/>
          <a:lstStyle/>
          <a:p>
            <a:pPr algn="r" indent="0" marL="0">
              <a:buNone/>
            </a:pPr>
            <a:r>
              <a:rPr lang="en-US" sz="700" dirty="0">
                <a:solidFill>
                  <a:srgbClr val="8899AA"/>
                </a:solidFill>
                <a:latin typeface="Calibri Light" pitchFamily="34" charset="0"/>
                <a:ea typeface="Calibri Light" pitchFamily="34" charset="-122"/>
                <a:cs typeface="Calibri Light" pitchFamily="34" charset="-120"/>
              </a:rPr>
              <a:t>Cana Capital Fund I  |  April 2026</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20040" y="182880"/>
            <a:ext cx="11430000" cy="54864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Appendix — Complete Data</a:t>
            </a:r>
            <a:endParaRPr lang="en-US" sz="2600" dirty="0"/>
          </a:p>
        </p:txBody>
      </p:sp>
      <p:sp>
        <p:nvSpPr>
          <p:cNvPr id="3" name="Shape 1"/>
          <p:cNvSpPr/>
          <p:nvPr/>
        </p:nvSpPr>
        <p:spPr>
          <a:xfrm>
            <a:off x="320040" y="749808"/>
            <a:ext cx="11521440" cy="20117"/>
          </a:xfrm>
          <a:prstGeom prst="rect">
            <a:avLst/>
          </a:prstGeom>
          <a:solidFill>
            <a:srgbClr val="C9A84C"/>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11521440" cy="914400"/>
        </p:xfrm>
        <a:graphic>
          <a:graphicData uri="http://schemas.openxmlformats.org/drawingml/2006/table">
            <a:tbl>
              <a:tblPr/>
              <a:tblGrid>
                <a:gridCol w="6858000"/>
                <a:gridCol w="4389120"/>
              </a:tblGrid>
              <a:tr h="32918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Section / Metric</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29184">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FUND OVERVIEW</a:t>
                      </a:r>
                      <a:endParaRPr lang="en-US" sz="8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Total Fund NAV</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$118.4M</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Gross Asset Value</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$145.2M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Called / Uncalled Capital</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$112.5M / $37.5M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LOAN PORTFOLIO</a:t>
                      </a:r>
                      <a:endParaRPr lang="en-US" sz="8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Total Loan Book Balance</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$138.2M</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Active Loans / Wtd. Avg. LTV / DSCR</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14 / 62.5% / 1.35x</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Wtd. Avg. Coupon / Avg. Term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8.8% / 18 months</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DISTRIBUTIONS &amp; RETURNS</a:t>
                      </a:r>
                      <a:endParaRPr lang="en-US" sz="8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Monthly Dist. / Annualized Yield</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C9A84C"/>
                          </a:solidFill>
                          <a:latin typeface="Calibri" pitchFamily="34" charset="0"/>
                          <a:ea typeface="Calibri" pitchFamily="34" charset="-122"/>
                          <a:cs typeface="Calibri" pitchFamily="34" charset="-120"/>
                        </a:rPr>
                        <a:t>$0.095 / 8.2%</a:t>
                      </a:r>
                      <a:endParaRPr lang="en-US" sz="9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Preferred Return Status / Cumulative Paid</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CURRENT / $6.8M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EEF2F7"/>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Net IRR / MOIC / TVPI</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9.1% / 1.08x / 1.08x</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DEAL ACTIVITY</a:t>
                      </a:r>
                      <a:endParaRPr lang="en-US" sz="8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1B2A4A"/>
                    </a:solidFill>
                  </a:tcPr>
                </a:tc>
              </a:tr>
              <a:tr h="329184">
                <a:tc>
                  <a:txBody>
                    <a:bodyPr/>
                    <a:lstStyle/>
                    <a:p>
                      <a:pPr indent="0" marL="0">
                        <a:buNone/>
                      </a:pPr>
                      <a:r>
                        <a:rPr lang="en-US" sz="900" dirty="0">
                          <a:solidFill>
                            <a:srgbClr val="2C3E50"/>
                          </a:solidFill>
                          <a:latin typeface="Calibri Light" pitchFamily="34" charset="0"/>
                          <a:ea typeface="Calibri Light" pitchFamily="34" charset="-122"/>
                          <a:cs typeface="Calibri Light" pitchFamily="34" charset="-120"/>
                        </a:rPr>
                        <a:t>New Originations / Repayments / Pipeline</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Calibri Light" pitchFamily="34" charset="0"/>
                          <a:ea typeface="Calibri Light" pitchFamily="34" charset="-122"/>
                          <a:cs typeface="Calibri Light" pitchFamily="34" charset="-120"/>
                        </a:rPr>
                        <a:t>2 / $14.0M  |  1 / $9.2M  |  3 / $22.0M</a:t>
                      </a:r>
                      <a:endParaRPr lang="en-US" sz="900" dirty="0">
                        <a:latin typeface="Calibri Light" charset="0"/>
                        <a:ea typeface="Calibri Light" charset="0"/>
                        <a:cs typeface="Calibri Light" charset="0"/>
                      </a:endParaRPr>
                    </a:p>
                  </a:txBody>
                  <a:tcPr marL="91440" marR="91440" marT="45720" marB="45720">
                    <a:lnL w="3810" cap="flat" cmpd="sng" algn="ctr">
                      <a:solidFill>
                        <a:srgbClr val="DDDDDD"/>
                      </a:solidFill>
                      <a:prstDash val="solid"/>
                      <a:round/>
                      <a:headEnd type="none" w="med" len="med"/>
                      <a:tailEnd type="none" w="med" len="med"/>
                    </a:lnL>
                    <a:lnR w="3810" cap="flat" cmpd="sng" algn="ctr">
                      <a:solidFill>
                        <a:srgbClr val="DDDDDD"/>
                      </a:solidFill>
                      <a:prstDash val="solid"/>
                      <a:round/>
                      <a:headEnd type="none" w="med" len="med"/>
                      <a:tailEnd type="none" w="med" len="med"/>
                    </a:lnR>
                    <a:lnT w="3810" cap="flat" cmpd="sng" algn="ctr">
                      <a:solidFill>
                        <a:srgbClr val="DDDDDD"/>
                      </a:solidFill>
                      <a:prstDash val="solid"/>
                      <a:round/>
                      <a:headEnd type="none" w="med" len="med"/>
                      <a:tailEnd type="none" w="med" len="med"/>
                    </a:lnT>
                    <a:lnB w="381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Text 2"/>
          <p:cNvSpPr/>
          <p:nvPr/>
        </p:nvSpPr>
        <p:spPr>
          <a:xfrm>
            <a:off x="320040" y="6355080"/>
            <a:ext cx="11521440" cy="228600"/>
          </a:xfrm>
          <a:prstGeom prst="rect">
            <a:avLst/>
          </a:prstGeom>
          <a:noFill/>
          <a:ln/>
        </p:spPr>
        <p:txBody>
          <a:bodyPr wrap="square" rtlCol="0" anchor="ctr"/>
          <a:lstStyle/>
          <a:p>
            <a:pPr indent="0" marL="0">
              <a:buNone/>
            </a:pPr>
            <a:r>
              <a:rPr lang="en-US" sz="700" i="1" dirty="0">
                <a:solidFill>
                  <a:srgbClr val="8899AA"/>
                </a:solidFill>
                <a:latin typeface="Calibri Light" pitchFamily="34" charset="0"/>
                <a:ea typeface="Calibri Light" pitchFamily="34" charset="-122"/>
                <a:cs typeface="Calibri Light" pitchFamily="34" charset="-120"/>
              </a:rPr>
              <a:t>Data source: Test mock data (demo run). Figures are unaudited and for illustrative purposes only.  |  Cana Ventures  |  ir@canaventures.com  |  www.canaventures.com</a:t>
            </a:r>
            <a:endParaRPr lang="en-US" sz="700" dirty="0"/>
          </a:p>
        </p:txBody>
      </p:sp>
      <p:sp>
        <p:nvSpPr>
          <p:cNvPr id="6" name="Text 3"/>
          <p:cNvSpPr/>
          <p:nvPr/>
        </p:nvSpPr>
        <p:spPr>
          <a:xfrm>
            <a:off x="320040" y="6565392"/>
            <a:ext cx="5029200" cy="182880"/>
          </a:xfrm>
          <a:prstGeom prst="rect">
            <a:avLst/>
          </a:prstGeom>
          <a:noFill/>
          <a:ln/>
        </p:spPr>
        <p:txBody>
          <a:bodyPr wrap="square" rtlCol="0" anchor="ctr"/>
          <a:lstStyle/>
          <a:p>
            <a:pPr indent="0" marL="0">
              <a:buNone/>
            </a:pPr>
            <a:r>
              <a:rPr lang="en-US" sz="700" dirty="0">
                <a:solidFill>
                  <a:srgbClr val="8899AA"/>
                </a:solidFill>
                <a:latin typeface="Calibri Light" pitchFamily="34" charset="0"/>
                <a:ea typeface="Calibri Light" pitchFamily="34" charset="-122"/>
                <a:cs typeface="Calibri Light" pitchFamily="34" charset="-120"/>
              </a:rPr>
              <a:t>CONFIDENTIAL — FOR LIMITED PARTNERS ONLY</a:t>
            </a:r>
            <a:endParaRPr lang="en-US" sz="700" dirty="0"/>
          </a:p>
        </p:txBody>
      </p:sp>
      <p:sp>
        <p:nvSpPr>
          <p:cNvPr id="7" name="Text 4"/>
          <p:cNvSpPr/>
          <p:nvPr/>
        </p:nvSpPr>
        <p:spPr>
          <a:xfrm>
            <a:off x="5760720" y="6565392"/>
            <a:ext cx="731520" cy="182880"/>
          </a:xfrm>
          <a:prstGeom prst="rect">
            <a:avLst/>
          </a:prstGeom>
          <a:noFill/>
          <a:ln/>
        </p:spPr>
        <p:txBody>
          <a:bodyPr wrap="square" rtlCol="0" anchor="ctr"/>
          <a:lstStyle/>
          <a:p>
            <a:pPr algn="ctr" indent="0" marL="0">
              <a:buNone/>
            </a:pPr>
            <a:r>
              <a:rPr lang="en-US" sz="700" dirty="0">
                <a:solidFill>
                  <a:srgbClr val="8899AA"/>
                </a:solidFill>
                <a:latin typeface="Calibri Light" pitchFamily="34" charset="0"/>
                <a:ea typeface="Calibri Light" pitchFamily="34" charset="-122"/>
                <a:cs typeface="Calibri Light" pitchFamily="34" charset="-120"/>
              </a:rPr>
              <a:t>9 of 9</a:t>
            </a:r>
            <a:endParaRPr lang="en-US" sz="700" dirty="0"/>
          </a:p>
        </p:txBody>
      </p:sp>
      <p:sp>
        <p:nvSpPr>
          <p:cNvPr id="8" name="Text 5"/>
          <p:cNvSpPr/>
          <p:nvPr/>
        </p:nvSpPr>
        <p:spPr>
          <a:xfrm>
            <a:off x="8229600" y="6565392"/>
            <a:ext cx="3749040" cy="182880"/>
          </a:xfrm>
          <a:prstGeom prst="rect">
            <a:avLst/>
          </a:prstGeom>
          <a:noFill/>
          <a:ln/>
        </p:spPr>
        <p:txBody>
          <a:bodyPr wrap="square" rtlCol="0" anchor="ctr"/>
          <a:lstStyle/>
          <a:p>
            <a:pPr algn="r" indent="0" marL="0">
              <a:buNone/>
            </a:pPr>
            <a:r>
              <a:rPr lang="en-US" sz="700" dirty="0">
                <a:solidFill>
                  <a:srgbClr val="8899AA"/>
                </a:solidFill>
                <a:latin typeface="Calibri Light" pitchFamily="34" charset="0"/>
                <a:ea typeface="Calibri Light" pitchFamily="34" charset="-122"/>
                <a:cs typeface="Calibri Light" pitchFamily="34" charset="-120"/>
              </a:rPr>
              <a:t>Cana Capital Fund I  |  April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Cana Capital Fund I Monthly Investor Report</dc:title>
  <dc:subject>Cana Capital Fund I — April 2026 Investor Report</dc:subject>
  <dc:creator>Cana Ventures</dc:creator>
  <cp:lastModifiedBy>Cana Ventures</cp:lastModifiedBy>
  <cp:revision>1</cp:revision>
  <dcterms:created xsi:type="dcterms:W3CDTF">2026-04-02T20:06:49Z</dcterms:created>
  <dcterms:modified xsi:type="dcterms:W3CDTF">2026-04-02T20:06:49Z</dcterms:modified>
</cp:coreProperties>
</file>